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Inter SemiBold"/>
      <p:regular r:id="rId25"/>
      <p:bold r:id="rId26"/>
      <p:italic r:id="rId27"/>
      <p:boldItalic r:id="rId28"/>
    </p:embeddedFont>
    <p:embeddedFont>
      <p:font typeface="Inter"/>
      <p:bold r:id="rId29"/>
      <p:boldItalic r:id="rId30"/>
    </p:embeddedFont>
    <p:embeddedFont>
      <p:font typeface="Inter ExtraBold"/>
      <p:bold r:id="rId31"/>
      <p:boldItalic r:id="rId32"/>
    </p:embeddedFont>
    <p:embeddedFont>
      <p:font typeface="Inter Medium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SemiBold-bold.fntdata"/><Relationship Id="rId25" Type="http://schemas.openxmlformats.org/officeDocument/2006/relationships/font" Target="fonts/InterSemiBold-regular.fntdata"/><Relationship Id="rId28" Type="http://schemas.openxmlformats.org/officeDocument/2006/relationships/font" Target="fonts/InterSemiBold-boldItalic.fntdata"/><Relationship Id="rId27" Type="http://schemas.openxmlformats.org/officeDocument/2006/relationships/font" Target="fonts/Inter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ExtraBold-bold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6.xml"/><Relationship Id="rId33" Type="http://schemas.openxmlformats.org/officeDocument/2006/relationships/font" Target="fonts/InterMedium-regular.fntdata"/><Relationship Id="rId10" Type="http://schemas.openxmlformats.org/officeDocument/2006/relationships/slide" Target="slides/slide5.xml"/><Relationship Id="rId32" Type="http://schemas.openxmlformats.org/officeDocument/2006/relationships/font" Target="fonts/InterExtraBold-boldItalic.fntdata"/><Relationship Id="rId13" Type="http://schemas.openxmlformats.org/officeDocument/2006/relationships/slide" Target="slides/slide8.xml"/><Relationship Id="rId35" Type="http://schemas.openxmlformats.org/officeDocument/2006/relationships/font" Target="fonts/InterMedium-italic.fntdata"/><Relationship Id="rId12" Type="http://schemas.openxmlformats.org/officeDocument/2006/relationships/slide" Target="slides/slide7.xml"/><Relationship Id="rId34" Type="http://schemas.openxmlformats.org/officeDocument/2006/relationships/font" Target="fonts/InterMedium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InterMedium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eb01e42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eb01e42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eb01e429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eb01e429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eb01e429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eb01e429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eb01e4294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deb01e4294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eb01e4294_0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deb01e4294_0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eb01e4294_0_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deb01e4294_0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deb01e4294_0_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deb01e4294_0_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eb01e4294_0_7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deb01e4294_0_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deb01e4294_0_7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deb01e4294_0_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deb01e4294_0_2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deb01e4294_0_2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deb01e4294_0_2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deb01e4294_0_2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deb01e4294_0_30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deb01e4294_0_3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deb01e4294_0_3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deb01e4294_0_3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deb01e4294_0_3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deb01e4294_0_3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deb01e4294_0_37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deb01e4294_0_3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deb01e4294_0_39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deb01e4294_0_39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deb01e4294_0_4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deb01e4294_0_4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deb01e4294_0_4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deb01e4294_0_4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b01e4294_14_0)">
  <p:cSld name="Title and body (g3deb01e4294_14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b860fc40_6_0)">
  <p:cSld name="Title and body (g3deb860fc40_6_0)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b860fc40_13_0)">
  <p:cSld name="Title and body (g3deb860fc40_13_0)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b860fc40_20_0)">
  <p:cSld name="Title and body (g3deb860fc40_20_0)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b860fc40_27_0)">
  <p:cSld name="Title and body (g3deb860fc40_27_0)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b860fc40_34_0)">
  <p:cSld name="Title and body (g3deb860fc40_34_0)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b01e4294_14_0) (g3deb860fc40_41_0)">
  <p:cSld name="Title and body (g3deb01e4294_14_0) (g3deb860fc40_41_0)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(g3deb860fc40_55_0)">
  <p:cSld name="Title slide (g3deb860fc40_55_0)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b860fc40_63_0)">
  <p:cSld name="Title and body (g3deb860fc40_63_0)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b860fc40_63_0) (g3deb860fc40_78_0)">
  <p:cSld name="Title and body (g3deb860fc40_63_0) (g3deb860fc40_78_0)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b860fc40_63_0) (g3deb860fc40_78_0) (g3deb860fc40_99_0)">
  <p:cSld name="Title and body (g3deb860fc40_63_0) (g3deb860fc40_78_0) (g3deb860fc40_99_0)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b860fc40_63_0) (g3deb860fc40_78_0) (g3deb860fc40_99_0) (g3deb860fc40_111_0)">
  <p:cSld name="Title and body (g3deb860fc40_63_0) (g3deb860fc40_78_0) (g3deb860fc40_99_0) (g3deb860fc40_111_0)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b860fc40_63_0) (g3deb860fc40_78_0) (g3deb860fc40_99_0) (g3deb860fc40_111_0) (g3deb860fc40_119_0)">
  <p:cSld name="Title and body (g3deb860fc40_63_0) (g3deb860fc40_78_0) (g3deb860fc40_99_0) (g3deb860fc40_111_0) (g3deb860fc40_119_0)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b860fc40_63_0) (g3deb860fc40_78_0) (g3deb860fc40_99_0) (g3deb860fc40_111_0) (g3deb860fc40_119_0) (g3deb860fc40_127_0)">
  <p:cSld name="Title and body (g3deb860fc40_63_0) (g3deb860fc40_78_0) (g3deb860fc40_99_0) (g3deb860fc40_111_0) (g3deb860fc40_119_0) (g3deb860fc40_127_0)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5" name="Google Shape;10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b860fc40_63_0) (g3deb860fc40_78_0) (g3deb860fc40_99_0) (g3deb860fc40_111_0) (g3deb860fc40_119_0) (g3deb860fc40_127_0) (g3deb860fc40_134_0)">
  <p:cSld name="Title and body (g3deb860fc40_63_0) (g3deb860fc40_78_0) (g3deb860fc40_99_0) (g3deb860fc40_111_0) (g3deb860fc40_119_0) (g3deb860fc40_127_0) (g3deb860fc40_134_0)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b860fc40_63_0) (g3deb860fc40_78_0) (g3deb860fc40_99_0) (g3deb860fc40_111_0) (g3deb860fc40_119_0) (g3deb860fc40_127_0) (g3deb860fc40_134_0) (g3deb860fc40_142_0)">
  <p:cSld name="Title and body (g3deb860fc40_63_0) (g3deb860fc40_78_0) (g3deb860fc40_99_0) (g3deb860fc40_111_0) (g3deb860fc40_119_0) (g3deb860fc40_127_0) (g3deb860fc40_134_0) (g3deb860fc40_142_0)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b860fc40_63_0) (g3deb860fc40_78_0) (g3deb860fc40_99_0) (g3deb860fc40_111_0) (g3deb860fc40_119_0) (g3deb860fc40_127_0) (g3deb860fc40_134_0) (g3deb860fc40_142_0) (g3deb860fc40_149_0)">
  <p:cSld name="Title and body (g3deb860fc40_63_0) (g3deb860fc40_78_0) (g3deb860fc40_99_0) (g3deb860fc40_111_0) (g3deb860fc40_119_0) (g3deb860fc40_127_0) (g3deb860fc40_134_0) (g3deb860fc40_142_0) (g3deb860fc40_149_0)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" name="Google Shape;116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7" name="Google Shape;11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b860fc40_63_0) (g3deb860fc40_78_0) (g3deb860fc40_99_0) (g3deb860fc40_111_0) (g3deb860fc40_119_0) (g3deb860fc40_127_0) (g3deb860fc40_134_0) (g3deb860fc40_142_0) (g3deb860fc40_149_0) (g3deb860fc40_157_0)">
  <p:cSld name="Title and body (g3deb860fc40_63_0) (g3deb860fc40_78_0) (g3deb860fc40_99_0) (g3deb860fc40_111_0) (g3deb860fc40_119_0) (g3deb860fc40_127_0) (g3deb860fc40_134_0) (g3deb860fc40_142_0) (g3deb860fc40_149_0) (g3deb860fc40_157_0)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" name="Google Shape;12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1" name="Google Shape;12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b860fc40_167_0)">
  <p:cSld name="Title and body (g3deb860fc40_167_0)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" name="Google Shape;12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5" name="Google Shape;12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b860fc40_175_0)">
  <p:cSld name="Title and body (g3deb860fc40_175_0)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" name="Google Shape;12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9" name="Google Shape;12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b01e4294_14_0) (g3deb860fc40_41_0) (g3deb860fc40_182_0)">
  <p:cSld name="Title and body (g3deb01e4294_14_0) (g3deb860fc40_41_0) (g3deb860fc40_182_0)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3" name="Google Shape;13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0.xml"/><Relationship Id="rId33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9.xml"/><Relationship Id="rId3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34" Type="http://schemas.openxmlformats.org/officeDocument/2006/relationships/theme" Target="../theme/theme2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34"/>
          <p:cNvGrpSpPr/>
          <p:nvPr/>
        </p:nvGrpSpPr>
        <p:grpSpPr>
          <a:xfrm>
            <a:off x="-1905000" y="-2857500"/>
            <a:ext cx="13906500" cy="9906000"/>
            <a:chOff x="-1905000" y="-2857500"/>
            <a:chExt cx="13906500" cy="9906000"/>
          </a:xfrm>
        </p:grpSpPr>
        <p:pic>
          <p:nvPicPr>
            <p:cNvPr id="139" name="Google Shape;139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" name="Google Shape;140;p34"/>
            <p:cNvSpPr/>
            <p:nvPr/>
          </p:nvSpPr>
          <p:spPr>
            <a:xfrm>
              <a:off x="6286500" y="-2857500"/>
              <a:ext cx="5715000" cy="5715000"/>
            </a:xfrm>
            <a:prstGeom prst="ellipse">
              <a:avLst/>
            </a:prstGeom>
            <a:solidFill>
              <a:srgbClr val="38BDF8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34"/>
            <p:cNvSpPr/>
            <p:nvPr/>
          </p:nvSpPr>
          <p:spPr>
            <a:xfrm>
              <a:off x="-1905000" y="3238500"/>
              <a:ext cx="3810000" cy="3810000"/>
            </a:xfrm>
            <a:prstGeom prst="ellipse">
              <a:avLst/>
            </a:prstGeom>
            <a:solidFill>
              <a:srgbClr val="38BDF8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2" name="Google Shape;142;p34"/>
          <p:cNvSpPr txBox="1"/>
          <p:nvPr/>
        </p:nvSpPr>
        <p:spPr>
          <a:xfrm>
            <a:off x="571500" y="1143000"/>
            <a:ext cx="80010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GB" sz="476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Threat Intelligence Report</a:t>
            </a:r>
            <a:endParaRPr b="1" sz="136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GB" sz="204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2024 — 2025</a:t>
            </a:r>
            <a:endParaRPr b="1" sz="136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" name="Google Shape;143;p34"/>
          <p:cNvSpPr/>
          <p:nvPr/>
        </p:nvSpPr>
        <p:spPr>
          <a:xfrm>
            <a:off x="4000500" y="3238500"/>
            <a:ext cx="1143000" cy="381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4"/>
          <p:cNvSpPr txBox="1"/>
          <p:nvPr/>
        </p:nvSpPr>
        <p:spPr>
          <a:xfrm>
            <a:off x="571500" y="3619500"/>
            <a:ext cx="8001000" cy="1143000"/>
          </a:xfrm>
          <a:prstGeom prst="rect">
            <a:avLst/>
          </a:prstGeom>
          <a:solidFill>
            <a:srgbClr val="131C3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400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</a:t>
            </a:r>
            <a:r>
              <a:rPr b="0" lang="en-GB" sz="14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resented by: </a:t>
            </a:r>
            <a:r>
              <a:rPr b="1" lang="en-GB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Parvathi V</a:t>
            </a:r>
            <a:endParaRPr b="0" sz="14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ctr">
              <a:spcBef>
                <a:spcPts val="18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highlight>
                  <a:srgbClr val="131C30"/>
                </a:highlight>
                <a:latin typeface="Inter"/>
                <a:ea typeface="Inter"/>
                <a:cs typeface="Inter"/>
                <a:sym typeface="Inter"/>
              </a:rPr>
              <a:t>Task 1: Threat Intelligence Report</a:t>
            </a:r>
            <a:endParaRPr b="0" sz="1200">
              <a:solidFill>
                <a:schemeClr val="lt1"/>
              </a:solidFill>
              <a:highlight>
                <a:srgbClr val="131C30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GB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Internship: Cyber Security &amp; Ethical Hacking Program</a:t>
            </a:r>
            <a:endParaRPr b="0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35"/>
          <p:cNvGrpSpPr/>
          <p:nvPr/>
        </p:nvGrpSpPr>
        <p:grpSpPr>
          <a:xfrm>
            <a:off x="0" y="0"/>
            <a:ext cx="9144000" cy="952500"/>
            <a:chOff x="0" y="0"/>
            <a:chExt cx="9144000" cy="952500"/>
          </a:xfrm>
        </p:grpSpPr>
        <p:sp>
          <p:nvSpPr>
            <p:cNvPr id="150" name="Google Shape;150;p35"/>
            <p:cNvSpPr/>
            <p:nvPr/>
          </p:nvSpPr>
          <p:spPr>
            <a:xfrm>
              <a:off x="0" y="0"/>
              <a:ext cx="9144000" cy="952500"/>
            </a:xfrm>
            <a:prstGeom prst="rect">
              <a:avLst/>
            </a:prstGeom>
            <a:solidFill>
              <a:srgbClr val="16203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35"/>
            <p:cNvSpPr txBox="1"/>
            <p:nvPr/>
          </p:nvSpPr>
          <p:spPr>
            <a:xfrm>
              <a:off x="381000" y="0"/>
              <a:ext cx="8382000" cy="952500"/>
            </a:xfrm>
            <a:prstGeom prst="rect">
              <a:avLst/>
            </a:prstGeom>
            <a:solidFill>
              <a:srgbClr val="16203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32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Table of Contents</a:t>
              </a:r>
              <a:endParaRPr b="0" sz="3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152" name="Google Shape;152;p35"/>
          <p:cNvSpPr txBox="1"/>
          <p:nvPr/>
        </p:nvSpPr>
        <p:spPr>
          <a:xfrm>
            <a:off x="381000" y="1238250"/>
            <a:ext cx="83820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01  </a:t>
            </a:r>
            <a:r>
              <a:rPr b="0" lang="en-GB" sz="18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Introduction to Cybersecurity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02  </a:t>
            </a:r>
            <a:r>
              <a:rPr b="0" lang="en-GB" sz="18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Importance &amp; Current Trends (2024-2025)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03  </a:t>
            </a:r>
            <a:r>
              <a:rPr b="0" lang="en-GB" sz="18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Major Cybersecurity Threats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04  </a:t>
            </a:r>
            <a:r>
              <a:rPr b="0" lang="en-GB" sz="18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Impact Analysis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05  </a:t>
            </a:r>
            <a:r>
              <a:rPr b="0" lang="en-GB" sz="18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Case Studies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06  </a:t>
            </a:r>
            <a:r>
              <a:rPr b="0" lang="en-GB" sz="18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Preventive Measures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07  </a:t>
            </a:r>
            <a:r>
              <a:rPr b="0" lang="en-GB" sz="18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Future Scope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08  </a:t>
            </a:r>
            <a:r>
              <a:rPr b="0" lang="en-GB" sz="18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Conclusion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53" name="Google Shape;153;p35"/>
          <p:cNvGrpSpPr/>
          <p:nvPr/>
        </p:nvGrpSpPr>
        <p:grpSpPr>
          <a:xfrm>
            <a:off x="381000" y="4667250"/>
            <a:ext cx="8382000" cy="381150"/>
            <a:chOff x="381000" y="4667250"/>
            <a:chExt cx="8382000" cy="381150"/>
          </a:xfrm>
        </p:grpSpPr>
        <p:sp>
          <p:nvSpPr>
            <p:cNvPr id="154" name="Google Shape;154;p35"/>
            <p:cNvSpPr/>
            <p:nvPr/>
          </p:nvSpPr>
          <p:spPr>
            <a:xfrm>
              <a:off x="381000" y="4667250"/>
              <a:ext cx="8382000" cy="96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35"/>
            <p:cNvSpPr txBox="1"/>
            <p:nvPr/>
          </p:nvSpPr>
          <p:spPr>
            <a:xfrm>
              <a:off x="381000" y="4762500"/>
              <a:ext cx="8382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Threat Intelligence Report: Table of Contents</a:t>
              </a:r>
              <a:endParaRPr b="0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36"/>
          <p:cNvGrpSpPr/>
          <p:nvPr/>
        </p:nvGrpSpPr>
        <p:grpSpPr>
          <a:xfrm>
            <a:off x="0" y="0"/>
            <a:ext cx="9144000" cy="952500"/>
            <a:chOff x="0" y="0"/>
            <a:chExt cx="9144000" cy="952500"/>
          </a:xfrm>
        </p:grpSpPr>
        <p:sp>
          <p:nvSpPr>
            <p:cNvPr id="161" name="Google Shape;161;p36"/>
            <p:cNvSpPr/>
            <p:nvPr/>
          </p:nvSpPr>
          <p:spPr>
            <a:xfrm>
              <a:off x="0" y="0"/>
              <a:ext cx="9144000" cy="952500"/>
            </a:xfrm>
            <a:prstGeom prst="rect">
              <a:avLst/>
            </a:prstGeom>
            <a:solidFill>
              <a:srgbClr val="16203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36"/>
            <p:cNvSpPr txBox="1"/>
            <p:nvPr/>
          </p:nvSpPr>
          <p:spPr>
            <a:xfrm>
              <a:off x="381000" y="0"/>
              <a:ext cx="8382000" cy="952500"/>
            </a:xfrm>
            <a:prstGeom prst="rect">
              <a:avLst/>
            </a:prstGeom>
            <a:solidFill>
              <a:srgbClr val="16203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Foundations of Security</a:t>
              </a:r>
              <a:endParaRPr b="1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32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Introduction to Cybersecurity</a:t>
              </a:r>
              <a:endParaRPr b="0" sz="3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163" name="Google Shape;163;p36"/>
          <p:cNvSpPr txBox="1"/>
          <p:nvPr/>
        </p:nvSpPr>
        <p:spPr>
          <a:xfrm>
            <a:off x="381000" y="1238250"/>
            <a:ext cx="40959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Strategic Defense</a:t>
            </a:r>
            <a:endParaRPr b="1" sz="18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GB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Cybersecurity is the strategic defense of digital networks, devices, and data against unauthorized access and malicious attacks.</a:t>
            </a:r>
            <a:endParaRPr b="0" sz="13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" name="Google Shape;164;p36"/>
          <p:cNvSpPr txBox="1"/>
          <p:nvPr/>
        </p:nvSpPr>
        <p:spPr>
          <a:xfrm>
            <a:off x="4667250" y="1238250"/>
            <a:ext cx="40959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Essential Protection</a:t>
            </a:r>
            <a:endParaRPr b="1" sz="18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GB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It is essential for protecting individual privacy, ensuring business continuity, and safeguarding sensitive information.</a:t>
            </a:r>
            <a:endParaRPr b="0" sz="13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" name="Google Shape;165;p36"/>
          <p:cNvSpPr txBox="1"/>
          <p:nvPr/>
        </p:nvSpPr>
        <p:spPr>
          <a:xfrm>
            <a:off x="381000" y="2857500"/>
            <a:ext cx="40959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Critical Resilience</a:t>
            </a:r>
            <a:endParaRPr b="1" sz="18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GB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Driven by total digital dependency and AI threats, robust cybersecurity is critical for everyday safety and operational resilience.</a:t>
            </a:r>
            <a:endParaRPr b="0" sz="13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" name="Google Shape;166;p36"/>
          <p:cNvSpPr txBox="1"/>
          <p:nvPr/>
        </p:nvSpPr>
        <p:spPr>
          <a:xfrm>
            <a:off x="4667250" y="2857500"/>
            <a:ext cx="40959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Ongoing Commitment</a:t>
            </a:r>
            <a:endParaRPr b="1" sz="18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GB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It is not a one-time fix, but an ongoing commitment to adapting and defending against an ever-evolving landscape of digital threats.</a:t>
            </a:r>
            <a:endParaRPr b="0" sz="13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67" name="Google Shape;167;p36"/>
          <p:cNvGrpSpPr/>
          <p:nvPr/>
        </p:nvGrpSpPr>
        <p:grpSpPr>
          <a:xfrm>
            <a:off x="381000" y="4667250"/>
            <a:ext cx="8382000" cy="381150"/>
            <a:chOff x="381000" y="4667250"/>
            <a:chExt cx="8382000" cy="381150"/>
          </a:xfrm>
        </p:grpSpPr>
        <p:sp>
          <p:nvSpPr>
            <p:cNvPr id="168" name="Google Shape;168;p36"/>
            <p:cNvSpPr/>
            <p:nvPr/>
          </p:nvSpPr>
          <p:spPr>
            <a:xfrm>
              <a:off x="381000" y="4667250"/>
              <a:ext cx="8382000" cy="96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36"/>
            <p:cNvSpPr txBox="1"/>
            <p:nvPr/>
          </p:nvSpPr>
          <p:spPr>
            <a:xfrm>
              <a:off x="381000" y="4762500"/>
              <a:ext cx="838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Threat Intelligence Overview: Core Definition &amp; Rationale</a:t>
              </a:r>
              <a:endParaRPr b="0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37"/>
          <p:cNvGrpSpPr/>
          <p:nvPr/>
        </p:nvGrpSpPr>
        <p:grpSpPr>
          <a:xfrm>
            <a:off x="0" y="0"/>
            <a:ext cx="9144000" cy="952500"/>
            <a:chOff x="0" y="0"/>
            <a:chExt cx="9144000" cy="952500"/>
          </a:xfrm>
        </p:grpSpPr>
        <p:sp>
          <p:nvSpPr>
            <p:cNvPr id="175" name="Google Shape;175;p37"/>
            <p:cNvSpPr/>
            <p:nvPr/>
          </p:nvSpPr>
          <p:spPr>
            <a:xfrm>
              <a:off x="0" y="0"/>
              <a:ext cx="9144000" cy="952500"/>
            </a:xfrm>
            <a:prstGeom prst="rect">
              <a:avLst/>
            </a:prstGeom>
            <a:solidFill>
              <a:srgbClr val="16203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37"/>
            <p:cNvSpPr txBox="1"/>
            <p:nvPr/>
          </p:nvSpPr>
          <p:spPr>
            <a:xfrm>
              <a:off x="381000" y="0"/>
              <a:ext cx="8382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Strategic Landscape</a:t>
              </a:r>
              <a:endParaRPr b="1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32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Importance &amp; Current Trends</a:t>
              </a:r>
              <a:endParaRPr b="0" sz="3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77" name="Google Shape;177;p37"/>
          <p:cNvGrpSpPr/>
          <p:nvPr/>
        </p:nvGrpSpPr>
        <p:grpSpPr>
          <a:xfrm>
            <a:off x="381000" y="1238250"/>
            <a:ext cx="4095900" cy="3048000"/>
            <a:chOff x="381000" y="1238250"/>
            <a:chExt cx="4095900" cy="3048000"/>
          </a:xfrm>
        </p:grpSpPr>
        <p:sp>
          <p:nvSpPr>
            <p:cNvPr id="178" name="Google Shape;178;p37"/>
            <p:cNvSpPr/>
            <p:nvPr/>
          </p:nvSpPr>
          <p:spPr>
            <a:xfrm>
              <a:off x="381000" y="1238250"/>
              <a:ext cx="4095900" cy="3048000"/>
            </a:xfrm>
            <a:prstGeom prst="roundRect">
              <a:avLst>
                <a:gd fmla="val 375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37"/>
            <p:cNvSpPr txBox="1"/>
            <p:nvPr/>
          </p:nvSpPr>
          <p:spPr>
            <a:xfrm>
              <a:off x="571500" y="1428750"/>
              <a:ext cx="3714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Current Trends:</a:t>
              </a:r>
              <a:endParaRPr b="1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302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Inter"/>
                <a:buChar char="●"/>
              </a:pPr>
              <a:r>
                <a:rPr b="0" lang="en-GB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AI-powered attacks and defenses.</a:t>
              </a:r>
              <a:endParaRPr b="0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302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Inter"/>
                <a:buChar char="●"/>
              </a:pPr>
              <a:r>
                <a:rPr b="0" lang="en-GB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Cybercrime operating as a rental business (RaaS).</a:t>
              </a:r>
              <a:endParaRPr b="0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302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Inter"/>
                <a:buChar char="●"/>
              </a:pPr>
              <a:r>
                <a:rPr b="0" lang="en-GB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Hackers using stolen passwords instead of breaking firewalls.</a:t>
              </a:r>
              <a:endParaRPr b="0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0" name="Google Shape;180;p37"/>
          <p:cNvGrpSpPr/>
          <p:nvPr/>
        </p:nvGrpSpPr>
        <p:grpSpPr>
          <a:xfrm>
            <a:off x="4667250" y="1238250"/>
            <a:ext cx="4095900" cy="3048000"/>
            <a:chOff x="4667250" y="1238250"/>
            <a:chExt cx="4095900" cy="3048000"/>
          </a:xfrm>
        </p:grpSpPr>
        <p:sp>
          <p:nvSpPr>
            <p:cNvPr id="181" name="Google Shape;181;p37"/>
            <p:cNvSpPr/>
            <p:nvPr/>
          </p:nvSpPr>
          <p:spPr>
            <a:xfrm>
              <a:off x="4667250" y="1238250"/>
              <a:ext cx="4095900" cy="3048000"/>
            </a:xfrm>
            <a:prstGeom prst="roundRect">
              <a:avLst>
                <a:gd fmla="val 375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37"/>
            <p:cNvSpPr txBox="1"/>
            <p:nvPr/>
          </p:nvSpPr>
          <p:spPr>
            <a:xfrm>
              <a:off x="4857750" y="1428750"/>
              <a:ext cx="3714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Why It Matters:</a:t>
              </a:r>
              <a:endParaRPr b="1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3655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475569"/>
                </a:buClr>
                <a:buSzPts val="1700"/>
                <a:buFont typeface="Inter"/>
                <a:buChar char="●"/>
              </a:pPr>
              <a:r>
                <a:rPr b="0" lang="en-GB" sz="17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Total societal reliance on digital infrastructure.</a:t>
              </a:r>
              <a:endParaRPr b="0" sz="17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365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700"/>
                <a:buFont typeface="Inter"/>
                <a:buChar char="●"/>
              </a:pPr>
              <a:r>
                <a:rPr b="0" lang="en-GB" sz="17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Prevents catastrophic business bankruptcy and fines.</a:t>
              </a:r>
              <a:endParaRPr b="0" sz="17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365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700"/>
                <a:buFont typeface="Inter"/>
                <a:buChar char="●"/>
              </a:pPr>
              <a:r>
                <a:rPr b="0" lang="en-GB" sz="17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Protects personal privacy and physical safety.</a:t>
              </a:r>
              <a:endParaRPr b="0" sz="17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3" name="Google Shape;183;p37"/>
          <p:cNvGrpSpPr/>
          <p:nvPr/>
        </p:nvGrpSpPr>
        <p:grpSpPr>
          <a:xfrm>
            <a:off x="381000" y="4667250"/>
            <a:ext cx="8382000" cy="381150"/>
            <a:chOff x="381000" y="4667250"/>
            <a:chExt cx="8382000" cy="381150"/>
          </a:xfrm>
        </p:grpSpPr>
        <p:sp>
          <p:nvSpPr>
            <p:cNvPr id="184" name="Google Shape;184;p37"/>
            <p:cNvSpPr/>
            <p:nvPr/>
          </p:nvSpPr>
          <p:spPr>
            <a:xfrm>
              <a:off x="381000" y="4667250"/>
              <a:ext cx="8382000" cy="96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37"/>
            <p:cNvSpPr txBox="1"/>
            <p:nvPr/>
          </p:nvSpPr>
          <p:spPr>
            <a:xfrm>
              <a:off x="381000" y="4762500"/>
              <a:ext cx="838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Threat Intelligence Report: Strategic Drivers (2024-2025)</a:t>
              </a:r>
              <a:endParaRPr b="0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38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191" name="Google Shape;191;p38"/>
            <p:cNvSpPr/>
            <p:nvPr/>
          </p:nvSpPr>
          <p:spPr>
            <a:xfrm>
              <a:off x="0" y="0"/>
              <a:ext cx="9144000" cy="1143000"/>
            </a:xfrm>
            <a:prstGeom prst="rect">
              <a:avLst/>
            </a:prstGeom>
            <a:solidFill>
              <a:srgbClr val="16203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38"/>
            <p:cNvSpPr txBox="1"/>
            <p:nvPr/>
          </p:nvSpPr>
          <p:spPr>
            <a:xfrm>
              <a:off x="381000" y="0"/>
              <a:ext cx="8382000" cy="1143000"/>
            </a:xfrm>
            <a:prstGeom prst="rect">
              <a:avLst/>
            </a:prstGeom>
            <a:solidFill>
              <a:srgbClr val="16203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Cybersecurity Threat Profile 01</a:t>
              </a:r>
              <a:endParaRPr b="1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32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AI Phishing &amp; Deepfakes</a:t>
              </a:r>
              <a:endParaRPr b="1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3" name="Google Shape;193;p38"/>
          <p:cNvGrpSpPr/>
          <p:nvPr/>
        </p:nvGrpSpPr>
        <p:grpSpPr>
          <a:xfrm>
            <a:off x="381000" y="1428750"/>
            <a:ext cx="2667000" cy="3048000"/>
            <a:chOff x="381000" y="1428750"/>
            <a:chExt cx="2667000" cy="3048000"/>
          </a:xfrm>
        </p:grpSpPr>
        <p:sp>
          <p:nvSpPr>
            <p:cNvPr id="194" name="Google Shape;194;p38"/>
            <p:cNvSpPr/>
            <p:nvPr/>
          </p:nvSpPr>
          <p:spPr>
            <a:xfrm>
              <a:off x="381000" y="1428750"/>
              <a:ext cx="2667000" cy="3048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38"/>
            <p:cNvSpPr txBox="1"/>
            <p:nvPr/>
          </p:nvSpPr>
          <p:spPr>
            <a:xfrm>
              <a:off x="381000" y="1428750"/>
              <a:ext cx="2667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mark_email_read</a:t>
              </a:r>
              <a:endParaRPr sz="36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Perfect Fakes</a:t>
              </a:r>
              <a:endParaRPr b="1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AI writes scam emails with no spelling mistakes, making them look exactly like they are from a real bank or friend.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6" name="Google Shape;196;p38"/>
          <p:cNvGrpSpPr/>
          <p:nvPr/>
        </p:nvGrpSpPr>
        <p:grpSpPr>
          <a:xfrm>
            <a:off x="3238500" y="1428750"/>
            <a:ext cx="2667000" cy="3048000"/>
            <a:chOff x="3238500" y="1428750"/>
            <a:chExt cx="2667000" cy="3048000"/>
          </a:xfrm>
        </p:grpSpPr>
        <p:sp>
          <p:nvSpPr>
            <p:cNvPr id="197" name="Google Shape;197;p38"/>
            <p:cNvSpPr/>
            <p:nvPr/>
          </p:nvSpPr>
          <p:spPr>
            <a:xfrm>
              <a:off x="3238500" y="1428750"/>
              <a:ext cx="2667000" cy="3048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38"/>
            <p:cNvSpPr txBox="1"/>
            <p:nvPr/>
          </p:nvSpPr>
          <p:spPr>
            <a:xfrm>
              <a:off x="3238500" y="1428750"/>
              <a:ext cx="2667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record_voice_over</a:t>
              </a:r>
              <a:endParaRPr sz="36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Voice Clones</a:t>
              </a:r>
              <a:endParaRPr b="1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Criminals use AI to copy the exact voice of your boss or loved one to trick you over the phone.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9" name="Google Shape;199;p38"/>
          <p:cNvGrpSpPr/>
          <p:nvPr/>
        </p:nvGrpSpPr>
        <p:grpSpPr>
          <a:xfrm>
            <a:off x="6096000" y="1428750"/>
            <a:ext cx="2667000" cy="3048000"/>
            <a:chOff x="6096000" y="1428750"/>
            <a:chExt cx="2667000" cy="3048000"/>
          </a:xfrm>
        </p:grpSpPr>
        <p:sp>
          <p:nvSpPr>
            <p:cNvPr id="200" name="Google Shape;200;p38"/>
            <p:cNvSpPr/>
            <p:nvPr/>
          </p:nvSpPr>
          <p:spPr>
            <a:xfrm>
              <a:off x="6096000" y="1428750"/>
              <a:ext cx="2667000" cy="3048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38"/>
            <p:cNvSpPr txBox="1"/>
            <p:nvPr/>
          </p:nvSpPr>
          <p:spPr>
            <a:xfrm>
              <a:off x="6096000" y="1428750"/>
              <a:ext cx="2667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36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Targeting You</a:t>
              </a:r>
              <a:endParaRPr b="1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Instead of trying to break through a firewall, they just trick you into handing over the password.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2" name="Google Shape;202;p38"/>
          <p:cNvGrpSpPr/>
          <p:nvPr/>
        </p:nvGrpSpPr>
        <p:grpSpPr>
          <a:xfrm>
            <a:off x="381000" y="4667250"/>
            <a:ext cx="8382000" cy="381150"/>
            <a:chOff x="381000" y="4667250"/>
            <a:chExt cx="8382000" cy="381150"/>
          </a:xfrm>
        </p:grpSpPr>
        <p:sp>
          <p:nvSpPr>
            <p:cNvPr id="203" name="Google Shape;203;p38"/>
            <p:cNvSpPr/>
            <p:nvPr/>
          </p:nvSpPr>
          <p:spPr>
            <a:xfrm>
              <a:off x="381000" y="4667250"/>
              <a:ext cx="8382000" cy="192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38"/>
            <p:cNvSpPr txBox="1"/>
            <p:nvPr/>
          </p:nvSpPr>
          <p:spPr>
            <a:xfrm>
              <a:off x="381000" y="4762500"/>
              <a:ext cx="838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Analogy: The Digital Impersonator</a:t>
              </a:r>
              <a:endParaRPr b="0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39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210" name="Google Shape;210;p39"/>
            <p:cNvSpPr/>
            <p:nvPr/>
          </p:nvSpPr>
          <p:spPr>
            <a:xfrm>
              <a:off x="0" y="0"/>
              <a:ext cx="9144000" cy="1143000"/>
            </a:xfrm>
            <a:prstGeom prst="rect">
              <a:avLst/>
            </a:prstGeom>
            <a:solidFill>
              <a:srgbClr val="16203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39"/>
            <p:cNvSpPr txBox="1"/>
            <p:nvPr/>
          </p:nvSpPr>
          <p:spPr>
            <a:xfrm>
              <a:off x="381000" y="0"/>
              <a:ext cx="8382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Cybersecurity Threat Profile 02</a:t>
              </a:r>
              <a:endParaRPr b="1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32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Ransomware for Rent (Hacker Toolkits)</a:t>
              </a:r>
              <a:endParaRPr b="0" sz="3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12" name="Google Shape;212;p39"/>
          <p:cNvGrpSpPr/>
          <p:nvPr/>
        </p:nvGrpSpPr>
        <p:grpSpPr>
          <a:xfrm>
            <a:off x="381000" y="1428750"/>
            <a:ext cx="2667000" cy="3048000"/>
            <a:chOff x="381000" y="1428750"/>
            <a:chExt cx="2667000" cy="3048000"/>
          </a:xfrm>
        </p:grpSpPr>
        <p:sp>
          <p:nvSpPr>
            <p:cNvPr id="213" name="Google Shape;213;p39"/>
            <p:cNvSpPr/>
            <p:nvPr/>
          </p:nvSpPr>
          <p:spPr>
            <a:xfrm>
              <a:off x="381000" y="1428750"/>
              <a:ext cx="2667000" cy="3048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39"/>
            <p:cNvSpPr txBox="1"/>
            <p:nvPr/>
          </p:nvSpPr>
          <p:spPr>
            <a:xfrm>
              <a:off x="381000" y="1428750"/>
              <a:ext cx="2667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business_center</a:t>
              </a:r>
              <a:endParaRPr sz="36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Hacking as a Business</a:t>
              </a:r>
              <a:endParaRPr b="1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Master hackers build software that locks up computers, then rent it to regular criminals online.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5" name="Google Shape;215;p39"/>
          <p:cNvGrpSpPr/>
          <p:nvPr/>
        </p:nvGrpSpPr>
        <p:grpSpPr>
          <a:xfrm>
            <a:off x="3238500" y="1428750"/>
            <a:ext cx="2667000" cy="3048000"/>
            <a:chOff x="3238500" y="1428750"/>
            <a:chExt cx="2667000" cy="3048000"/>
          </a:xfrm>
        </p:grpSpPr>
        <p:sp>
          <p:nvSpPr>
            <p:cNvPr id="216" name="Google Shape;216;p39"/>
            <p:cNvSpPr/>
            <p:nvPr/>
          </p:nvSpPr>
          <p:spPr>
            <a:xfrm>
              <a:off x="3238500" y="1428750"/>
              <a:ext cx="2667000" cy="3048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39"/>
            <p:cNvSpPr txBox="1"/>
            <p:nvPr/>
          </p:nvSpPr>
          <p:spPr>
            <a:xfrm>
              <a:off x="3238500" y="1428750"/>
              <a:ext cx="2667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psychology_alt</a:t>
              </a:r>
              <a:endParaRPr sz="36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No Skills Needed</a:t>
              </a:r>
              <a:endParaRPr b="1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 criminal doesn't need to know how to code to launch an attack anymore; they just pay to use the tool.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8" name="Google Shape;218;p39"/>
          <p:cNvGrpSpPr/>
          <p:nvPr/>
        </p:nvGrpSpPr>
        <p:grpSpPr>
          <a:xfrm>
            <a:off x="6096000" y="1428750"/>
            <a:ext cx="2667000" cy="3048000"/>
            <a:chOff x="6096000" y="1428750"/>
            <a:chExt cx="2667000" cy="3048000"/>
          </a:xfrm>
        </p:grpSpPr>
        <p:sp>
          <p:nvSpPr>
            <p:cNvPr id="219" name="Google Shape;219;p39"/>
            <p:cNvSpPr/>
            <p:nvPr/>
          </p:nvSpPr>
          <p:spPr>
            <a:xfrm>
              <a:off x="6096000" y="1428750"/>
              <a:ext cx="2667000" cy="3048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39"/>
            <p:cNvSpPr txBox="1"/>
            <p:nvPr/>
          </p:nvSpPr>
          <p:spPr>
            <a:xfrm>
              <a:off x="6096000" y="1428750"/>
              <a:ext cx="2667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lock</a:t>
              </a:r>
              <a:endParaRPr sz="36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Holding Data Hostage</a:t>
              </a:r>
              <a:endParaRPr b="1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They freeze a company's or hospital's computers and demand a massive payout to unlock them.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1" name="Google Shape;221;p39"/>
          <p:cNvGrpSpPr/>
          <p:nvPr/>
        </p:nvGrpSpPr>
        <p:grpSpPr>
          <a:xfrm>
            <a:off x="381000" y="4667250"/>
            <a:ext cx="8382000" cy="381150"/>
            <a:chOff x="381000" y="4667250"/>
            <a:chExt cx="8382000" cy="381150"/>
          </a:xfrm>
        </p:grpSpPr>
        <p:sp>
          <p:nvSpPr>
            <p:cNvPr id="222" name="Google Shape;222;p39"/>
            <p:cNvSpPr/>
            <p:nvPr/>
          </p:nvSpPr>
          <p:spPr>
            <a:xfrm>
              <a:off x="381000" y="4667250"/>
              <a:ext cx="8382000" cy="192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39"/>
            <p:cNvSpPr txBox="1"/>
            <p:nvPr/>
          </p:nvSpPr>
          <p:spPr>
            <a:xfrm>
              <a:off x="381000" y="4762500"/>
              <a:ext cx="838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Analogy: The Digital Kidnapper</a:t>
              </a:r>
              <a:endParaRPr b="0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p40"/>
          <p:cNvGrpSpPr/>
          <p:nvPr/>
        </p:nvGrpSpPr>
        <p:grpSpPr>
          <a:xfrm>
            <a:off x="0" y="0"/>
            <a:ext cx="9144100" cy="1143000"/>
            <a:chOff x="0" y="0"/>
            <a:chExt cx="9144100" cy="1143000"/>
          </a:xfrm>
        </p:grpSpPr>
        <p:sp>
          <p:nvSpPr>
            <p:cNvPr id="229" name="Google Shape;229;p40"/>
            <p:cNvSpPr/>
            <p:nvPr/>
          </p:nvSpPr>
          <p:spPr>
            <a:xfrm>
              <a:off x="0" y="0"/>
              <a:ext cx="9144000" cy="1143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40"/>
            <p:cNvSpPr txBox="1"/>
            <p:nvPr/>
          </p:nvSpPr>
          <p:spPr>
            <a:xfrm>
              <a:off x="49300" y="0"/>
              <a:ext cx="9094800" cy="1143000"/>
            </a:xfrm>
            <a:prstGeom prst="rect">
              <a:avLst/>
            </a:prstGeom>
            <a:solidFill>
              <a:srgbClr val="16203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45720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Cybersecurity Threat Profile 03</a:t>
              </a:r>
              <a:endParaRPr b="1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45720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32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Infostealers (Password Snatchers)</a:t>
              </a:r>
              <a:endParaRPr b="0" sz="3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31" name="Google Shape;231;p40"/>
          <p:cNvGrpSpPr/>
          <p:nvPr/>
        </p:nvGrpSpPr>
        <p:grpSpPr>
          <a:xfrm>
            <a:off x="381000" y="1428750"/>
            <a:ext cx="2667000" cy="3048000"/>
            <a:chOff x="381000" y="1428750"/>
            <a:chExt cx="2667000" cy="3048000"/>
          </a:xfrm>
        </p:grpSpPr>
        <p:sp>
          <p:nvSpPr>
            <p:cNvPr id="232" name="Google Shape;232;p40"/>
            <p:cNvSpPr/>
            <p:nvPr/>
          </p:nvSpPr>
          <p:spPr>
            <a:xfrm>
              <a:off x="381000" y="1428750"/>
              <a:ext cx="2667000" cy="3048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40"/>
            <p:cNvSpPr txBox="1"/>
            <p:nvPr/>
          </p:nvSpPr>
          <p:spPr>
            <a:xfrm>
              <a:off x="381000" y="1428750"/>
              <a:ext cx="2667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visibility_off</a:t>
              </a:r>
              <a:endParaRPr sz="36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Silent Thieves</a:t>
              </a:r>
              <a:endParaRPr b="1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Sneaky software hides on your computer and steals the passwords you save in your web browser.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4" name="Google Shape;234;p40"/>
          <p:cNvGrpSpPr/>
          <p:nvPr/>
        </p:nvGrpSpPr>
        <p:grpSpPr>
          <a:xfrm>
            <a:off x="3238500" y="1428750"/>
            <a:ext cx="2667000" cy="3048000"/>
            <a:chOff x="3238500" y="1428750"/>
            <a:chExt cx="2667000" cy="3048000"/>
          </a:xfrm>
        </p:grpSpPr>
        <p:sp>
          <p:nvSpPr>
            <p:cNvPr id="235" name="Google Shape;235;p40"/>
            <p:cNvSpPr/>
            <p:nvPr/>
          </p:nvSpPr>
          <p:spPr>
            <a:xfrm>
              <a:off x="3238500" y="1428750"/>
              <a:ext cx="2667000" cy="3048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40"/>
            <p:cNvSpPr txBox="1"/>
            <p:nvPr/>
          </p:nvSpPr>
          <p:spPr>
            <a:xfrm>
              <a:off x="3238500" y="1428750"/>
              <a:ext cx="2667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vpn_key</a:t>
              </a:r>
              <a:endParaRPr sz="36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Using the Front Door</a:t>
              </a:r>
              <a:endParaRPr b="1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Instead of "hacking" into a network, criminals just use your stolen username and password to log in.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7" name="Google Shape;237;p40"/>
          <p:cNvGrpSpPr/>
          <p:nvPr/>
        </p:nvGrpSpPr>
        <p:grpSpPr>
          <a:xfrm>
            <a:off x="6096000" y="1428750"/>
            <a:ext cx="2667000" cy="3048000"/>
            <a:chOff x="6096000" y="1428750"/>
            <a:chExt cx="2667000" cy="3048000"/>
          </a:xfrm>
        </p:grpSpPr>
        <p:sp>
          <p:nvSpPr>
            <p:cNvPr id="238" name="Google Shape;238;p40"/>
            <p:cNvSpPr/>
            <p:nvPr/>
          </p:nvSpPr>
          <p:spPr>
            <a:xfrm>
              <a:off x="6096000" y="1428750"/>
              <a:ext cx="2667000" cy="3048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40"/>
            <p:cNvSpPr txBox="1"/>
            <p:nvPr/>
          </p:nvSpPr>
          <p:spPr>
            <a:xfrm>
              <a:off x="6096000" y="1428750"/>
              <a:ext cx="2667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notifications_off</a:t>
              </a:r>
              <a:endParaRPr sz="36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Hard to Spot</a:t>
              </a:r>
              <a:endParaRPr b="1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Security systems don't sound the alarm because it looks like you are the one logging in.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0" name="Google Shape;240;p40"/>
          <p:cNvGrpSpPr/>
          <p:nvPr/>
        </p:nvGrpSpPr>
        <p:grpSpPr>
          <a:xfrm>
            <a:off x="381000" y="4667250"/>
            <a:ext cx="8382000" cy="381150"/>
            <a:chOff x="381000" y="4667250"/>
            <a:chExt cx="8382000" cy="381150"/>
          </a:xfrm>
        </p:grpSpPr>
        <p:sp>
          <p:nvSpPr>
            <p:cNvPr id="241" name="Google Shape;241;p40"/>
            <p:cNvSpPr/>
            <p:nvPr/>
          </p:nvSpPr>
          <p:spPr>
            <a:xfrm>
              <a:off x="381000" y="4667250"/>
              <a:ext cx="8382000" cy="192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40"/>
            <p:cNvSpPr txBox="1"/>
            <p:nvPr/>
          </p:nvSpPr>
          <p:spPr>
            <a:xfrm>
              <a:off x="381000" y="4762500"/>
              <a:ext cx="838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ANALOGY: THE STOLEN KEYCARD</a:t>
              </a:r>
              <a:endParaRPr b="0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41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248" name="Google Shape;248;p41"/>
            <p:cNvSpPr/>
            <p:nvPr/>
          </p:nvSpPr>
          <p:spPr>
            <a:xfrm>
              <a:off x="0" y="0"/>
              <a:ext cx="9144000" cy="1143000"/>
            </a:xfrm>
            <a:prstGeom prst="rect">
              <a:avLst/>
            </a:prstGeom>
            <a:solidFill>
              <a:srgbClr val="16203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41"/>
            <p:cNvSpPr txBox="1"/>
            <p:nvPr/>
          </p:nvSpPr>
          <p:spPr>
            <a:xfrm>
              <a:off x="381000" y="0"/>
              <a:ext cx="8382000" cy="1143000"/>
            </a:xfrm>
            <a:prstGeom prst="rect">
              <a:avLst/>
            </a:prstGeom>
            <a:solidFill>
              <a:srgbClr val="16203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Cybersecurity Threat Profile 04</a:t>
              </a:r>
              <a:endParaRPr b="1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32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"Living off the Land" (Invisible Attacks)</a:t>
              </a:r>
              <a:endParaRPr b="0" sz="3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50" name="Google Shape;250;p41"/>
          <p:cNvGrpSpPr/>
          <p:nvPr/>
        </p:nvGrpSpPr>
        <p:grpSpPr>
          <a:xfrm>
            <a:off x="381000" y="1428750"/>
            <a:ext cx="2667000" cy="3048000"/>
            <a:chOff x="381000" y="1428750"/>
            <a:chExt cx="2667000" cy="3048000"/>
          </a:xfrm>
        </p:grpSpPr>
        <p:sp>
          <p:nvSpPr>
            <p:cNvPr id="251" name="Google Shape;251;p41"/>
            <p:cNvSpPr/>
            <p:nvPr/>
          </p:nvSpPr>
          <p:spPr>
            <a:xfrm>
              <a:off x="381000" y="1428750"/>
              <a:ext cx="2667000" cy="3048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41"/>
            <p:cNvSpPr txBox="1"/>
            <p:nvPr/>
          </p:nvSpPr>
          <p:spPr>
            <a:xfrm>
              <a:off x="381000" y="1428750"/>
              <a:ext cx="2667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verified_user</a:t>
              </a:r>
              <a:endParaRPr sz="36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No Viruses Used</a:t>
              </a:r>
              <a:endParaRPr b="1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Instead of downloading a virus, hackers take control of the safe, normal programs already on your computer.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3" name="Google Shape;253;p41"/>
          <p:cNvGrpSpPr/>
          <p:nvPr/>
        </p:nvGrpSpPr>
        <p:grpSpPr>
          <a:xfrm>
            <a:off x="3238500" y="1428750"/>
            <a:ext cx="2667000" cy="3048000"/>
            <a:chOff x="3238500" y="1428750"/>
            <a:chExt cx="2667000" cy="3048000"/>
          </a:xfrm>
        </p:grpSpPr>
        <p:sp>
          <p:nvSpPr>
            <p:cNvPr id="254" name="Google Shape;254;p41"/>
            <p:cNvSpPr/>
            <p:nvPr/>
          </p:nvSpPr>
          <p:spPr>
            <a:xfrm>
              <a:off x="3238500" y="1428750"/>
              <a:ext cx="2667000" cy="3048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41"/>
            <p:cNvSpPr txBox="1"/>
            <p:nvPr/>
          </p:nvSpPr>
          <p:spPr>
            <a:xfrm>
              <a:off x="3238500" y="1428750"/>
              <a:ext cx="2667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visibility_off</a:t>
              </a:r>
              <a:endParaRPr sz="36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Fooling Antivirus</a:t>
              </a:r>
              <a:endParaRPr b="1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Because they are using your computer's own safe tools, your antivirus software doesn't notice anything is wrong.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6" name="Google Shape;256;p41"/>
          <p:cNvGrpSpPr/>
          <p:nvPr/>
        </p:nvGrpSpPr>
        <p:grpSpPr>
          <a:xfrm>
            <a:off x="6096000" y="1428750"/>
            <a:ext cx="2667000" cy="3048000"/>
            <a:chOff x="6096000" y="1428750"/>
            <a:chExt cx="2667000" cy="3048000"/>
          </a:xfrm>
        </p:grpSpPr>
        <p:sp>
          <p:nvSpPr>
            <p:cNvPr id="257" name="Google Shape;257;p41"/>
            <p:cNvSpPr/>
            <p:nvPr/>
          </p:nvSpPr>
          <p:spPr>
            <a:xfrm>
              <a:off x="6096000" y="1428750"/>
              <a:ext cx="2667000" cy="3048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41"/>
            <p:cNvSpPr txBox="1"/>
            <p:nvPr/>
          </p:nvSpPr>
          <p:spPr>
            <a:xfrm>
              <a:off x="6096000" y="1428750"/>
              <a:ext cx="2667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track_changes</a:t>
              </a:r>
              <a:endParaRPr sz="36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Hiding in the Shadows</a:t>
              </a:r>
              <a:endParaRPr b="1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This lets hackers secretly snoop around inside a network for months without getting caught.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9" name="Google Shape;259;p41"/>
          <p:cNvGrpSpPr/>
          <p:nvPr/>
        </p:nvGrpSpPr>
        <p:grpSpPr>
          <a:xfrm>
            <a:off x="381000" y="4667250"/>
            <a:ext cx="8382000" cy="381150"/>
            <a:chOff x="381000" y="4667250"/>
            <a:chExt cx="8382000" cy="381150"/>
          </a:xfrm>
        </p:grpSpPr>
        <p:sp>
          <p:nvSpPr>
            <p:cNvPr id="260" name="Google Shape;260;p41"/>
            <p:cNvSpPr/>
            <p:nvPr/>
          </p:nvSpPr>
          <p:spPr>
            <a:xfrm>
              <a:off x="381000" y="4667250"/>
              <a:ext cx="8382000" cy="192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41"/>
            <p:cNvSpPr txBox="1"/>
            <p:nvPr/>
          </p:nvSpPr>
          <p:spPr>
            <a:xfrm>
              <a:off x="381000" y="4762500"/>
              <a:ext cx="838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ANALOGY: THE INSIDER THREAT</a:t>
              </a:r>
              <a:endParaRPr b="0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42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267" name="Google Shape;267;p42"/>
            <p:cNvSpPr/>
            <p:nvPr/>
          </p:nvSpPr>
          <p:spPr>
            <a:xfrm>
              <a:off x="0" y="0"/>
              <a:ext cx="9144000" cy="1143000"/>
            </a:xfrm>
            <a:prstGeom prst="rect">
              <a:avLst/>
            </a:prstGeom>
            <a:solidFill>
              <a:srgbClr val="162032"/>
            </a:solidFill>
            <a:ln cap="flat" cmpd="sng" w="9525">
              <a:solidFill>
                <a:srgbClr val="1620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42"/>
            <p:cNvSpPr txBox="1"/>
            <p:nvPr/>
          </p:nvSpPr>
          <p:spPr>
            <a:xfrm>
              <a:off x="381000" y="0"/>
              <a:ext cx="8382000" cy="1143000"/>
            </a:xfrm>
            <a:prstGeom prst="rect">
              <a:avLst/>
            </a:prstGeom>
            <a:solidFill>
              <a:srgbClr val="162032"/>
            </a:solidFill>
            <a:ln cap="flat" cmpd="sng" w="9525">
              <a:solidFill>
                <a:srgbClr val="1620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Cybersecurity Threat Profile 05</a:t>
              </a:r>
              <a:endParaRPr b="1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32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Insecure App Connections</a:t>
              </a:r>
              <a:endParaRPr b="0" sz="3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69" name="Google Shape;269;p42"/>
          <p:cNvGrpSpPr/>
          <p:nvPr/>
        </p:nvGrpSpPr>
        <p:grpSpPr>
          <a:xfrm>
            <a:off x="381000" y="1428750"/>
            <a:ext cx="2667000" cy="3048000"/>
            <a:chOff x="381000" y="1428750"/>
            <a:chExt cx="2667000" cy="3048000"/>
          </a:xfrm>
        </p:grpSpPr>
        <p:sp>
          <p:nvSpPr>
            <p:cNvPr id="270" name="Google Shape;270;p42"/>
            <p:cNvSpPr/>
            <p:nvPr/>
          </p:nvSpPr>
          <p:spPr>
            <a:xfrm>
              <a:off x="381000" y="1428750"/>
              <a:ext cx="2667000" cy="3048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42"/>
            <p:cNvSpPr txBox="1"/>
            <p:nvPr/>
          </p:nvSpPr>
          <p:spPr>
            <a:xfrm>
              <a:off x="381000" y="1428750"/>
              <a:ext cx="2667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router</a:t>
              </a:r>
              <a:endParaRPr sz="36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Weak Bridges</a:t>
              </a:r>
              <a:endParaRPr b="1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Apps on your phone have to connect to huge databases to work. Sometimes, these connections are left unprotected.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2" name="Google Shape;272;p42"/>
          <p:cNvGrpSpPr/>
          <p:nvPr/>
        </p:nvGrpSpPr>
        <p:grpSpPr>
          <a:xfrm>
            <a:off x="3238500" y="1428750"/>
            <a:ext cx="2667000" cy="3048000"/>
            <a:chOff x="3238500" y="1428750"/>
            <a:chExt cx="2667000" cy="3048000"/>
          </a:xfrm>
        </p:grpSpPr>
        <p:sp>
          <p:nvSpPr>
            <p:cNvPr id="273" name="Google Shape;273;p42"/>
            <p:cNvSpPr/>
            <p:nvPr/>
          </p:nvSpPr>
          <p:spPr>
            <a:xfrm>
              <a:off x="3238500" y="1428750"/>
              <a:ext cx="2667000" cy="3048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42"/>
            <p:cNvSpPr txBox="1"/>
            <p:nvPr/>
          </p:nvSpPr>
          <p:spPr>
            <a:xfrm>
              <a:off x="3238500" y="1428750"/>
              <a:ext cx="2667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36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Tricking the System</a:t>
              </a:r>
              <a:endParaRPr b="1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Hackers find these weak spots and trick the database into giving them data they shouldn't see.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5" name="Google Shape;275;p42"/>
          <p:cNvGrpSpPr/>
          <p:nvPr/>
        </p:nvGrpSpPr>
        <p:grpSpPr>
          <a:xfrm>
            <a:off x="6096000" y="1428750"/>
            <a:ext cx="2667000" cy="3048000"/>
            <a:chOff x="6096000" y="1428750"/>
            <a:chExt cx="2667000" cy="3048000"/>
          </a:xfrm>
        </p:grpSpPr>
        <p:sp>
          <p:nvSpPr>
            <p:cNvPr id="276" name="Google Shape;276;p42"/>
            <p:cNvSpPr/>
            <p:nvPr/>
          </p:nvSpPr>
          <p:spPr>
            <a:xfrm>
              <a:off x="6096000" y="1428750"/>
              <a:ext cx="2667000" cy="3048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42"/>
            <p:cNvSpPr txBox="1"/>
            <p:nvPr/>
          </p:nvSpPr>
          <p:spPr>
            <a:xfrm>
              <a:off x="6096000" y="1428750"/>
              <a:ext cx="2667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security_update_warning</a:t>
              </a:r>
              <a:endParaRPr sz="36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Massive Thefts</a:t>
              </a:r>
              <a:endParaRPr b="1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One bad connection can let a hacker download millions of customers' private details all at once.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8" name="Google Shape;278;p42"/>
          <p:cNvGrpSpPr/>
          <p:nvPr/>
        </p:nvGrpSpPr>
        <p:grpSpPr>
          <a:xfrm>
            <a:off x="381000" y="4667250"/>
            <a:ext cx="8382000" cy="381150"/>
            <a:chOff x="381000" y="4667250"/>
            <a:chExt cx="8382000" cy="381150"/>
          </a:xfrm>
        </p:grpSpPr>
        <p:sp>
          <p:nvSpPr>
            <p:cNvPr id="279" name="Google Shape;279;p42"/>
            <p:cNvSpPr/>
            <p:nvPr/>
          </p:nvSpPr>
          <p:spPr>
            <a:xfrm>
              <a:off x="381000" y="4667250"/>
              <a:ext cx="8382000" cy="192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42"/>
            <p:cNvSpPr txBox="1"/>
            <p:nvPr/>
          </p:nvSpPr>
          <p:spPr>
            <a:xfrm>
              <a:off x="381000" y="4762500"/>
              <a:ext cx="838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ANALOGY: LEAKY PIPES</a:t>
              </a:r>
              <a:endParaRPr b="0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3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43"/>
          <p:cNvSpPr txBox="1"/>
          <p:nvPr/>
        </p:nvSpPr>
        <p:spPr>
          <a:xfrm>
            <a:off x="50075" y="0"/>
            <a:ext cx="9144000" cy="9525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Cybersecurity Threat Landscapes</a:t>
            </a:r>
            <a:endParaRPr b="1" sz="14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Impact Analysis</a:t>
            </a:r>
            <a:endParaRPr b="0" sz="32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87" name="Google Shape;287;p43"/>
          <p:cNvGrpSpPr/>
          <p:nvPr/>
        </p:nvGrpSpPr>
        <p:grpSpPr>
          <a:xfrm>
            <a:off x="381000" y="1190625"/>
            <a:ext cx="4095900" cy="1047900"/>
            <a:chOff x="381000" y="1190625"/>
            <a:chExt cx="4095900" cy="1047900"/>
          </a:xfrm>
        </p:grpSpPr>
        <p:sp>
          <p:nvSpPr>
            <p:cNvPr id="288" name="Google Shape;288;p43"/>
            <p:cNvSpPr/>
            <p:nvPr/>
          </p:nvSpPr>
          <p:spPr>
            <a:xfrm>
              <a:off x="381000" y="1190625"/>
              <a:ext cx="4095900" cy="1047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43"/>
            <p:cNvSpPr txBox="1"/>
            <p:nvPr/>
          </p:nvSpPr>
          <p:spPr>
            <a:xfrm>
              <a:off x="523875" y="1190625"/>
              <a:ext cx="3810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1. AI Phishing &amp; Deepfakes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Individuals:</a:t>
              </a:r>
              <a:r>
                <a:rPr lang="en-GB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You get tricked into giving away money or passwords by realistic fakes.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Organizations:</a:t>
              </a:r>
              <a:r>
                <a:rPr lang="en-GB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Employees are fooled into wiring company funds or network keys.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0" name="Google Shape;290;p43"/>
          <p:cNvGrpSpPr/>
          <p:nvPr/>
        </p:nvGrpSpPr>
        <p:grpSpPr>
          <a:xfrm>
            <a:off x="4667250" y="1190625"/>
            <a:ext cx="4095900" cy="1047900"/>
            <a:chOff x="4667250" y="1190625"/>
            <a:chExt cx="4095900" cy="1047900"/>
          </a:xfrm>
        </p:grpSpPr>
        <p:sp>
          <p:nvSpPr>
            <p:cNvPr id="291" name="Google Shape;291;p43"/>
            <p:cNvSpPr/>
            <p:nvPr/>
          </p:nvSpPr>
          <p:spPr>
            <a:xfrm>
              <a:off x="4667250" y="1190625"/>
              <a:ext cx="4095900" cy="1047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43"/>
            <p:cNvSpPr txBox="1"/>
            <p:nvPr/>
          </p:nvSpPr>
          <p:spPr>
            <a:xfrm>
              <a:off x="4810125" y="1190625"/>
              <a:ext cx="3810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2. Ransomware for Rent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Individuals:</a:t>
              </a:r>
              <a:r>
                <a:rPr lang="en-GB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Personal files, like family photos, get permanently locked or deleted.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Organizations:</a:t>
              </a:r>
              <a:r>
                <a:rPr lang="en-GB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Business is shut down until a massive ransom is paid.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3" name="Google Shape;293;p43"/>
          <p:cNvGrpSpPr/>
          <p:nvPr/>
        </p:nvGrpSpPr>
        <p:grpSpPr>
          <a:xfrm>
            <a:off x="381000" y="2428875"/>
            <a:ext cx="4095900" cy="1047900"/>
            <a:chOff x="381000" y="2428875"/>
            <a:chExt cx="4095900" cy="1047900"/>
          </a:xfrm>
        </p:grpSpPr>
        <p:sp>
          <p:nvSpPr>
            <p:cNvPr id="294" name="Google Shape;294;p43"/>
            <p:cNvSpPr/>
            <p:nvPr/>
          </p:nvSpPr>
          <p:spPr>
            <a:xfrm>
              <a:off x="381000" y="2428875"/>
              <a:ext cx="4095900" cy="1047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43"/>
            <p:cNvSpPr txBox="1"/>
            <p:nvPr/>
          </p:nvSpPr>
          <p:spPr>
            <a:xfrm>
              <a:off x="523875" y="2428875"/>
              <a:ext cx="3810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3. Password Snatchers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Individuals:</a:t>
              </a:r>
              <a:r>
                <a:rPr lang="en-GB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Criminals silently break into bank and email accounts using stolen passwords.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Organizations:</a:t>
              </a:r>
              <a:r>
                <a:rPr lang="en-GB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Hackers bypass security systems using stolen employee logins.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6" name="Google Shape;296;p43"/>
          <p:cNvGrpSpPr/>
          <p:nvPr/>
        </p:nvGrpSpPr>
        <p:grpSpPr>
          <a:xfrm>
            <a:off x="4667250" y="2428875"/>
            <a:ext cx="4095900" cy="1047900"/>
            <a:chOff x="4667250" y="2428875"/>
            <a:chExt cx="4095900" cy="1047900"/>
          </a:xfrm>
        </p:grpSpPr>
        <p:sp>
          <p:nvSpPr>
            <p:cNvPr id="297" name="Google Shape;297;p43"/>
            <p:cNvSpPr/>
            <p:nvPr/>
          </p:nvSpPr>
          <p:spPr>
            <a:xfrm>
              <a:off x="4667250" y="2428875"/>
              <a:ext cx="4095900" cy="1047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43"/>
            <p:cNvSpPr txBox="1"/>
            <p:nvPr/>
          </p:nvSpPr>
          <p:spPr>
            <a:xfrm>
              <a:off x="4810125" y="2428875"/>
              <a:ext cx="3810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4. Invisible Attacks (LotL)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Individuals:</a:t>
              </a:r>
              <a:r>
                <a:rPr lang="en-GB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Hackers secretly spy on your computer without antivirus noticing.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Organizations:</a:t>
              </a:r>
              <a:r>
                <a:rPr lang="en-GB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Attackers hide inside the network, quietly stealing corporate secrets.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9" name="Google Shape;299;p43"/>
          <p:cNvGrpSpPr/>
          <p:nvPr/>
        </p:nvGrpSpPr>
        <p:grpSpPr>
          <a:xfrm>
            <a:off x="2381250" y="3667125"/>
            <a:ext cx="4381500" cy="1047900"/>
            <a:chOff x="2381250" y="3667125"/>
            <a:chExt cx="4381500" cy="1047900"/>
          </a:xfrm>
        </p:grpSpPr>
        <p:sp>
          <p:nvSpPr>
            <p:cNvPr id="300" name="Google Shape;300;p43"/>
            <p:cNvSpPr/>
            <p:nvPr/>
          </p:nvSpPr>
          <p:spPr>
            <a:xfrm>
              <a:off x="2381250" y="3667125"/>
              <a:ext cx="4381500" cy="1047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43"/>
            <p:cNvSpPr txBox="1"/>
            <p:nvPr/>
          </p:nvSpPr>
          <p:spPr>
            <a:xfrm>
              <a:off x="2524125" y="3667125"/>
              <a:ext cx="4095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5. Leaky App Connections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Individuals:</a:t>
              </a:r>
              <a:r>
                <a:rPr lang="en-GB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Private details like credit cards get leaked online through app flaws.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Organizations:</a:t>
              </a:r>
              <a:r>
                <a:rPr lang="en-GB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Millions of records stolen, causing lawsuits and ruined reputations.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02" name="Google Shape;302;p43"/>
          <p:cNvSpPr/>
          <p:nvPr/>
        </p:nvSpPr>
        <p:spPr>
          <a:xfrm>
            <a:off x="381000" y="4905375"/>
            <a:ext cx="8382000" cy="19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43"/>
          <p:cNvSpPr txBox="1"/>
          <p:nvPr/>
        </p:nvSpPr>
        <p:spPr>
          <a:xfrm>
            <a:off x="381000" y="4905375"/>
            <a:ext cx="8382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IMPACT ASSESSMENT: INDIVIDUALS VS. ORGANIZATIONS</a:t>
            </a:r>
            <a:endParaRPr sz="10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4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293B">
              <a:alpha val="5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44"/>
          <p:cNvSpPr txBox="1"/>
          <p:nvPr/>
        </p:nvSpPr>
        <p:spPr>
          <a:xfrm>
            <a:off x="381000" y="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Cybersecurity Case Study</a:t>
            </a:r>
            <a:endParaRPr b="1" sz="14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Real World Case Studies</a:t>
            </a:r>
            <a:endParaRPr b="0" sz="32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310" name="Google Shape;310;p44"/>
          <p:cNvGrpSpPr/>
          <p:nvPr/>
        </p:nvGrpSpPr>
        <p:grpSpPr>
          <a:xfrm>
            <a:off x="381000" y="1428750"/>
            <a:ext cx="8382000" cy="3048000"/>
            <a:chOff x="381000" y="1428750"/>
            <a:chExt cx="8382000" cy="3048000"/>
          </a:xfrm>
        </p:grpSpPr>
        <p:sp>
          <p:nvSpPr>
            <p:cNvPr id="311" name="Google Shape;311;p44"/>
            <p:cNvSpPr/>
            <p:nvPr/>
          </p:nvSpPr>
          <p:spPr>
            <a:xfrm>
              <a:off x="381000" y="1428750"/>
              <a:ext cx="38100" cy="30480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44"/>
            <p:cNvSpPr txBox="1"/>
            <p:nvPr/>
          </p:nvSpPr>
          <p:spPr>
            <a:xfrm>
              <a:off x="609600" y="1428750"/>
              <a:ext cx="8153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The $25 Million Hong Kong Scam (2024)</a:t>
              </a:r>
              <a:endParaRPr b="1" sz="2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THE INCIDENT</a:t>
              </a:r>
              <a:endParaRPr b="1" sz="1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An employee at the multinational engineering firm Arup received an email from someone claiming to be the company's CFO requesting a confidential money transfer. To verify, the employee joined a live video call.</a:t>
              </a:r>
              <a:endParaRPr b="0" sz="12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THE EXPLOIT</a:t>
              </a:r>
              <a:endParaRPr b="1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Everyone on the video call—including the "CFO"—was an AI-generated deepfake created from public YouTube videos of the executives.</a:t>
              </a:r>
              <a:endParaRPr b="0" sz="12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87171"/>
                  </a:solidFill>
                  <a:latin typeface="Inter"/>
                  <a:ea typeface="Inter"/>
                  <a:cs typeface="Inter"/>
                  <a:sym typeface="Inter"/>
                </a:rPr>
                <a:t>THE IMPACT</a:t>
              </a:r>
              <a:endParaRPr b="1" sz="14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Believing the fake executives were real, the employee wired $25 million to the scammers.</a:t>
              </a:r>
              <a:endParaRPr b="0" sz="12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3" name="Google Shape;313;p44"/>
          <p:cNvGrpSpPr/>
          <p:nvPr/>
        </p:nvGrpSpPr>
        <p:grpSpPr>
          <a:xfrm>
            <a:off x="381000" y="4762500"/>
            <a:ext cx="8382000" cy="304800"/>
            <a:chOff x="381000" y="4762500"/>
            <a:chExt cx="8382000" cy="304800"/>
          </a:xfrm>
        </p:grpSpPr>
        <p:sp>
          <p:nvSpPr>
            <p:cNvPr id="314" name="Google Shape;314;p44"/>
            <p:cNvSpPr/>
            <p:nvPr/>
          </p:nvSpPr>
          <p:spPr>
            <a:xfrm>
              <a:off x="381000" y="4762500"/>
              <a:ext cx="8382000" cy="960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44"/>
            <p:cNvSpPr txBox="1"/>
            <p:nvPr/>
          </p:nvSpPr>
          <p:spPr>
            <a:xfrm>
              <a:off x="381000" y="4838700"/>
              <a:ext cx="8382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CASE PROFILE: AI PHISHING &amp; DEEPFAKES</a:t>
              </a:r>
              <a:endParaRPr b="0" sz="10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5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293B">
              <a:alpha val="6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45"/>
          <p:cNvSpPr txBox="1"/>
          <p:nvPr/>
        </p:nvSpPr>
        <p:spPr>
          <a:xfrm>
            <a:off x="381000" y="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Cybersecurity Case Study</a:t>
            </a:r>
            <a:endParaRPr b="1" sz="14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Ransomware for Rent (RaaS)</a:t>
            </a:r>
            <a:endParaRPr b="1" sz="14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22" name="Google Shape;322;p45"/>
          <p:cNvGrpSpPr/>
          <p:nvPr/>
        </p:nvGrpSpPr>
        <p:grpSpPr>
          <a:xfrm>
            <a:off x="381000" y="1428750"/>
            <a:ext cx="8382000" cy="3048000"/>
            <a:chOff x="381000" y="1428750"/>
            <a:chExt cx="8382000" cy="3048000"/>
          </a:xfrm>
        </p:grpSpPr>
        <p:sp>
          <p:nvSpPr>
            <p:cNvPr id="323" name="Google Shape;323;p45"/>
            <p:cNvSpPr/>
            <p:nvPr/>
          </p:nvSpPr>
          <p:spPr>
            <a:xfrm>
              <a:off x="381000" y="1428750"/>
              <a:ext cx="38100" cy="30480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45"/>
            <p:cNvSpPr txBox="1"/>
            <p:nvPr/>
          </p:nvSpPr>
          <p:spPr>
            <a:xfrm>
              <a:off x="609600" y="1428750"/>
              <a:ext cx="8153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The Change Healthcare Hack (2024)</a:t>
              </a:r>
              <a:endParaRPr b="1" sz="2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THE INCIDENT</a:t>
              </a:r>
              <a:endParaRPr b="1" sz="1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The Russian ransomware gang ALPHV (BlackCat) attacked Change Healthcare, a massive clearinghouse processing medical claims and prescriptions for U.S. hospitals.</a:t>
              </a:r>
              <a:endParaRPr b="0" sz="12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THE EXPLOIT</a:t>
              </a:r>
              <a:endParaRPr b="1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ALPHV leased their malicious software via a Ransomware-as-a-Service model to lower-level criminals who completely encrypted Change Healthcare's systems.</a:t>
              </a:r>
              <a:endParaRPr b="0" sz="12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87171"/>
                  </a:solidFill>
                  <a:latin typeface="Inter"/>
                  <a:ea typeface="Inter"/>
                  <a:cs typeface="Inter"/>
                  <a:sym typeface="Inter"/>
                </a:rPr>
                <a:t>THE IMPACT</a:t>
              </a:r>
              <a:endParaRPr b="1" sz="14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Patient care was disrupted nationwide; a $22 million ransom was paid, yet private medical data of ~100 million Americans was still stolen.</a:t>
              </a:r>
              <a:endParaRPr b="0" sz="12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25" name="Google Shape;325;p45"/>
          <p:cNvGrpSpPr/>
          <p:nvPr/>
        </p:nvGrpSpPr>
        <p:grpSpPr>
          <a:xfrm>
            <a:off x="381000" y="4762500"/>
            <a:ext cx="8382000" cy="304800"/>
            <a:chOff x="381000" y="4762500"/>
            <a:chExt cx="8382000" cy="304800"/>
          </a:xfrm>
        </p:grpSpPr>
        <p:sp>
          <p:nvSpPr>
            <p:cNvPr id="326" name="Google Shape;326;p45"/>
            <p:cNvSpPr/>
            <p:nvPr/>
          </p:nvSpPr>
          <p:spPr>
            <a:xfrm>
              <a:off x="381000" y="4762500"/>
              <a:ext cx="8382000" cy="960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45"/>
            <p:cNvSpPr txBox="1"/>
            <p:nvPr/>
          </p:nvSpPr>
          <p:spPr>
            <a:xfrm>
              <a:off x="381000" y="4838700"/>
              <a:ext cx="8382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CASE PROFILE: CHANGE HEALTHCARE RANSOMWARE ATTACK</a:t>
              </a:r>
              <a:endParaRPr b="0" sz="10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6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293B">
              <a:alpha val="6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46"/>
          <p:cNvSpPr txBox="1"/>
          <p:nvPr/>
        </p:nvSpPr>
        <p:spPr>
          <a:xfrm>
            <a:off x="381000" y="0"/>
            <a:ext cx="8382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Cybersecurity Case Study</a:t>
            </a:r>
            <a:endParaRPr b="1" sz="14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Uber Breach (2022)</a:t>
            </a:r>
            <a:endParaRPr b="1" sz="14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34" name="Google Shape;334;p46"/>
          <p:cNvGrpSpPr/>
          <p:nvPr/>
        </p:nvGrpSpPr>
        <p:grpSpPr>
          <a:xfrm>
            <a:off x="381000" y="1428750"/>
            <a:ext cx="8382000" cy="3048000"/>
            <a:chOff x="381000" y="1428750"/>
            <a:chExt cx="8382000" cy="3048000"/>
          </a:xfrm>
        </p:grpSpPr>
        <p:sp>
          <p:nvSpPr>
            <p:cNvPr id="335" name="Google Shape;335;p46"/>
            <p:cNvSpPr/>
            <p:nvPr/>
          </p:nvSpPr>
          <p:spPr>
            <a:xfrm>
              <a:off x="381000" y="1428750"/>
              <a:ext cx="38100" cy="30480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46"/>
            <p:cNvSpPr txBox="1"/>
            <p:nvPr/>
          </p:nvSpPr>
          <p:spPr>
            <a:xfrm>
              <a:off x="609600" y="1428750"/>
              <a:ext cx="8153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Password Snatchers (Infostealers)</a:t>
              </a:r>
              <a:endParaRPr b="1" sz="2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THE INCIDENT</a:t>
              </a:r>
              <a:endParaRPr b="1" sz="1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Uber's internal computer systems and cloud servers were completely compromised by a teenage hacker affiliated with the Lapsus$ extortion group.</a:t>
              </a:r>
              <a:endParaRPr b="0" sz="12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THE EXPLOIT</a:t>
              </a:r>
              <a:endParaRPr b="1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The hacker didn't break the firewall. Instead, they bought a contractor's stolen credentials on the dark web—data scraped from a personal computer by "Infostealer" malware.</a:t>
              </a:r>
              <a:endParaRPr b="0" sz="12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87171"/>
                  </a:solidFill>
                  <a:latin typeface="Inter"/>
                  <a:ea typeface="Inter"/>
                  <a:cs typeface="Inter"/>
                  <a:sym typeface="Inter"/>
                </a:rPr>
                <a:t>THE IMPACT</a:t>
              </a:r>
              <a:endParaRPr b="1" sz="14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Using the valid login, the hacker walked through the "front door," gaining administrative control over sensitive communication tools and financial databases.</a:t>
              </a:r>
              <a:endParaRPr b="0" sz="12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37" name="Google Shape;337;p46"/>
          <p:cNvSpPr/>
          <p:nvPr/>
        </p:nvSpPr>
        <p:spPr>
          <a:xfrm>
            <a:off x="381000" y="4762500"/>
            <a:ext cx="8382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46"/>
          <p:cNvSpPr txBox="1"/>
          <p:nvPr/>
        </p:nvSpPr>
        <p:spPr>
          <a:xfrm>
            <a:off x="381000" y="4838700"/>
            <a:ext cx="838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CASE PROFILE: INFOSTEALER MALWARE ATTACK</a:t>
            </a:r>
            <a:endParaRPr b="0" sz="100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7"/>
          <p:cNvSpPr/>
          <p:nvPr/>
        </p:nvSpPr>
        <p:spPr>
          <a:xfrm>
            <a:off x="100125" y="0"/>
            <a:ext cx="9043800" cy="5143500"/>
          </a:xfrm>
          <a:prstGeom prst="rect">
            <a:avLst/>
          </a:prstGeom>
          <a:solidFill>
            <a:srgbClr val="0E172A">
              <a:alpha val="7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47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293B">
              <a:alpha val="6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7"/>
          <p:cNvSpPr txBox="1"/>
          <p:nvPr/>
        </p:nvSpPr>
        <p:spPr>
          <a:xfrm>
            <a:off x="381000" y="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Cybersecurity Case Study</a:t>
            </a:r>
            <a:endParaRPr b="1" sz="14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Volt Typhoon (2023-Present)</a:t>
            </a:r>
            <a:endParaRPr b="0" sz="32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346" name="Google Shape;346;p47"/>
          <p:cNvGrpSpPr/>
          <p:nvPr/>
        </p:nvGrpSpPr>
        <p:grpSpPr>
          <a:xfrm>
            <a:off x="381000" y="1428750"/>
            <a:ext cx="8382000" cy="3048000"/>
            <a:chOff x="381000" y="1428750"/>
            <a:chExt cx="8382000" cy="3048000"/>
          </a:xfrm>
        </p:grpSpPr>
        <p:sp>
          <p:nvSpPr>
            <p:cNvPr id="347" name="Google Shape;347;p47"/>
            <p:cNvSpPr/>
            <p:nvPr/>
          </p:nvSpPr>
          <p:spPr>
            <a:xfrm>
              <a:off x="381000" y="1428750"/>
              <a:ext cx="38100" cy="30480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47"/>
            <p:cNvSpPr txBox="1"/>
            <p:nvPr/>
          </p:nvSpPr>
          <p:spPr>
            <a:xfrm>
              <a:off x="609600" y="1428750"/>
              <a:ext cx="8153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Invisible Attacks (Living off the Land)</a:t>
              </a:r>
              <a:endParaRPr b="1" sz="2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THE INCIDENT</a:t>
              </a:r>
              <a:endParaRPr b="1" sz="1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U.S. cybersecurity agencies (like CISA) discovered a Chinese state-sponsored hacking group known as "Volt Typhoon" lurking inside the networks of American critical infrastructure, including water plants and power grids.</a:t>
              </a:r>
              <a:endParaRPr b="0" sz="12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THE EXPLOIT</a:t>
              </a:r>
              <a:endParaRPr b="1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The hackers used "Living off the Land" techniques. They did not install viruses. Instead, they hijacked the safe, built-in administrative tools that Windows computers already use every day.</a:t>
              </a:r>
              <a:endParaRPr b="0" sz="12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87171"/>
                  </a:solidFill>
                  <a:latin typeface="Inter"/>
                  <a:ea typeface="Inter"/>
                  <a:cs typeface="Inter"/>
                  <a:sym typeface="Inter"/>
                </a:rPr>
                <a:t>THE IMPACT</a:t>
              </a:r>
              <a:endParaRPr b="1" sz="14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Because they blended in perfectly with normal IT operations, the hackers remained entirely undetected for years, quietly positioning themselves to shut down power or water supplies in the event of a global conflict.</a:t>
              </a:r>
              <a:endParaRPr b="0" sz="12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49" name="Google Shape;349;p47"/>
          <p:cNvSpPr/>
          <p:nvPr/>
        </p:nvSpPr>
        <p:spPr>
          <a:xfrm>
            <a:off x="381000" y="4762500"/>
            <a:ext cx="8382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7"/>
          <p:cNvSpPr txBox="1"/>
          <p:nvPr/>
        </p:nvSpPr>
        <p:spPr>
          <a:xfrm>
            <a:off x="381000" y="4838700"/>
            <a:ext cx="838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CASE PROFILE: VOLT TYPHOON ATTACK</a:t>
            </a:r>
            <a:endParaRPr b="0" sz="100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8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293B">
              <a:alpha val="6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48"/>
          <p:cNvSpPr txBox="1"/>
          <p:nvPr/>
        </p:nvSpPr>
        <p:spPr>
          <a:xfrm>
            <a:off x="381000" y="0"/>
            <a:ext cx="8382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Cybersecurity Case Study</a:t>
            </a:r>
            <a:endParaRPr b="1" sz="14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Optus Data Breach (2022)</a:t>
            </a:r>
            <a:endParaRPr b="1" sz="14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57" name="Google Shape;357;p48"/>
          <p:cNvGrpSpPr/>
          <p:nvPr/>
        </p:nvGrpSpPr>
        <p:grpSpPr>
          <a:xfrm>
            <a:off x="381000" y="1428750"/>
            <a:ext cx="8382000" cy="3048000"/>
            <a:chOff x="381000" y="1428750"/>
            <a:chExt cx="8382000" cy="3048000"/>
          </a:xfrm>
        </p:grpSpPr>
        <p:sp>
          <p:nvSpPr>
            <p:cNvPr id="358" name="Google Shape;358;p48"/>
            <p:cNvSpPr/>
            <p:nvPr/>
          </p:nvSpPr>
          <p:spPr>
            <a:xfrm>
              <a:off x="381000" y="1428750"/>
              <a:ext cx="38100" cy="30480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48"/>
            <p:cNvSpPr txBox="1"/>
            <p:nvPr/>
          </p:nvSpPr>
          <p:spPr>
            <a:xfrm>
              <a:off x="609600" y="1428750"/>
              <a:ext cx="8153400" cy="3048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Leaky App Connections (Insecure APIs)</a:t>
              </a:r>
              <a:endParaRPr b="1" sz="2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THE INCIDENT</a:t>
              </a:r>
              <a:endParaRPr b="1" sz="1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Optus, one of Australia's largest telecommunications companies, suffered a massive data breach compromising the personal details of up to 10 million people (nearly a third of the country's population).</a:t>
              </a:r>
              <a:endParaRPr b="0" sz="12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THE EXPLOIT</a:t>
              </a:r>
              <a:endParaRPr b="1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The breach was traced back to an unprotected API. The API was accidentally left exposed to the public internet without requiring a password or authentication to access it.</a:t>
              </a:r>
              <a:endParaRPr b="0" sz="12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87171"/>
                  </a:solidFill>
                  <a:latin typeface="Inter"/>
                  <a:ea typeface="Inter"/>
                  <a:cs typeface="Inter"/>
                  <a:sym typeface="Inter"/>
                </a:rPr>
                <a:t>THE IMPACT</a:t>
              </a:r>
              <a:endParaRPr b="1" sz="14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Hackers connected to the open bridge and downloaded millions of driver's licenses and passports, exposing citizens to identity theft and costing Optus an estimated $140 million.</a:t>
              </a:r>
              <a:endParaRPr b="0" sz="12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60" name="Google Shape;360;p48"/>
          <p:cNvSpPr/>
          <p:nvPr/>
        </p:nvSpPr>
        <p:spPr>
          <a:xfrm>
            <a:off x="381000" y="4762500"/>
            <a:ext cx="8382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48"/>
          <p:cNvSpPr txBox="1"/>
          <p:nvPr/>
        </p:nvSpPr>
        <p:spPr>
          <a:xfrm>
            <a:off x="381000" y="4838700"/>
            <a:ext cx="838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CASE PROFILE: INSECURE API BREACH</a:t>
            </a:r>
            <a:endParaRPr b="0" sz="100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9"/>
          <p:cNvSpPr/>
          <p:nvPr/>
        </p:nvSpPr>
        <p:spPr>
          <a:xfrm>
            <a:off x="0" y="0"/>
            <a:ext cx="9144000" cy="1047900"/>
          </a:xfrm>
          <a:prstGeom prst="rect">
            <a:avLst/>
          </a:prstGeom>
          <a:solidFill>
            <a:srgbClr val="1E293B">
              <a:alpha val="6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49"/>
          <p:cNvSpPr txBox="1"/>
          <p:nvPr/>
        </p:nvSpPr>
        <p:spPr>
          <a:xfrm>
            <a:off x="381000" y="0"/>
            <a:ext cx="8382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Cybersecurity Best Practices</a:t>
            </a:r>
            <a:endParaRPr b="1" sz="14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Preventive Measures</a:t>
            </a:r>
            <a:endParaRPr b="0" sz="32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368" name="Google Shape;368;p49"/>
          <p:cNvGrpSpPr/>
          <p:nvPr/>
        </p:nvGrpSpPr>
        <p:grpSpPr>
          <a:xfrm>
            <a:off x="381000" y="1333500"/>
            <a:ext cx="8382000" cy="2476500"/>
            <a:chOff x="381000" y="1333500"/>
            <a:chExt cx="8382000" cy="2476500"/>
          </a:xfrm>
        </p:grpSpPr>
        <p:sp>
          <p:nvSpPr>
            <p:cNvPr id="369" name="Google Shape;369;p49"/>
            <p:cNvSpPr/>
            <p:nvPr/>
          </p:nvSpPr>
          <p:spPr>
            <a:xfrm>
              <a:off x="381000" y="1333500"/>
              <a:ext cx="38100" cy="5715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0" name="Google Shape;370;p49"/>
            <p:cNvSpPr txBox="1"/>
            <p:nvPr/>
          </p:nvSpPr>
          <p:spPr>
            <a:xfrm>
              <a:off x="571500" y="1333500"/>
              <a:ext cx="3905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9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01. AI Phishing &amp; Deepfakes</a:t>
              </a:r>
              <a:endParaRPr b="1" sz="169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41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• Use physical security keys (MFA)</a:t>
              </a:r>
              <a:br>
                <a:rPr b="0" lang="en-GB" sz="141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GB" sz="141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• Verbally verify unusual requests</a:t>
              </a:r>
              <a:endParaRPr b="0" sz="1418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1" name="Google Shape;371;p49"/>
            <p:cNvSpPr/>
            <p:nvPr/>
          </p:nvSpPr>
          <p:spPr>
            <a:xfrm>
              <a:off x="4762500" y="1333500"/>
              <a:ext cx="38100" cy="5715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2" name="Google Shape;372;p49"/>
            <p:cNvSpPr txBox="1"/>
            <p:nvPr/>
          </p:nvSpPr>
          <p:spPr>
            <a:xfrm>
              <a:off x="4953000" y="1333500"/>
              <a:ext cx="381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9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02. Ransomware for Rent</a:t>
              </a:r>
              <a:endParaRPr b="1" sz="169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41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• Maintain strict offline data backups</a:t>
              </a:r>
              <a:br>
                <a:rPr b="0" lang="en-GB" sz="141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GB" sz="141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• Constantly update and patch software</a:t>
              </a:r>
              <a:endParaRPr b="0" sz="1418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3" name="Google Shape;373;p49"/>
            <p:cNvSpPr/>
            <p:nvPr/>
          </p:nvSpPr>
          <p:spPr>
            <a:xfrm>
              <a:off x="381000" y="2286000"/>
              <a:ext cx="38100" cy="5715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4" name="Google Shape;374;p49"/>
            <p:cNvSpPr txBox="1"/>
            <p:nvPr/>
          </p:nvSpPr>
          <p:spPr>
            <a:xfrm>
              <a:off x="571500" y="2286000"/>
              <a:ext cx="3905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9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03. Password Snatchers</a:t>
              </a:r>
              <a:endParaRPr b="1" sz="169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41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• Use encrypted password managers</a:t>
              </a:r>
              <a:br>
                <a:rPr b="0" lang="en-GB" sz="141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GB" sz="141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• Enforce Zero Trust (verify every login)</a:t>
              </a:r>
              <a:endParaRPr b="0" sz="1418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5" name="Google Shape;375;p49"/>
            <p:cNvSpPr/>
            <p:nvPr/>
          </p:nvSpPr>
          <p:spPr>
            <a:xfrm>
              <a:off x="4762500" y="2286000"/>
              <a:ext cx="38100" cy="5715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6" name="Google Shape;376;p49"/>
            <p:cNvSpPr txBox="1"/>
            <p:nvPr/>
          </p:nvSpPr>
          <p:spPr>
            <a:xfrm>
              <a:off x="4953000" y="2286000"/>
              <a:ext cx="381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9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04. Invisible Attacks</a:t>
              </a:r>
              <a:endParaRPr b="1" sz="169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41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• Monitor systems for unusual behavior</a:t>
              </a:r>
              <a:br>
                <a:rPr b="0" lang="en-GB" sz="141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GB" sz="141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• Restrict access to admin tools</a:t>
              </a:r>
              <a:endParaRPr b="0" sz="1418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7" name="Google Shape;377;p49"/>
            <p:cNvSpPr/>
            <p:nvPr/>
          </p:nvSpPr>
          <p:spPr>
            <a:xfrm>
              <a:off x="381000" y="3238500"/>
              <a:ext cx="38100" cy="5715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8" name="Google Shape;378;p49"/>
            <p:cNvSpPr txBox="1"/>
            <p:nvPr/>
          </p:nvSpPr>
          <p:spPr>
            <a:xfrm>
              <a:off x="571500" y="3238500"/>
              <a:ext cx="819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9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05. Leaky App Connections (Insecure APIs)</a:t>
              </a:r>
              <a:endParaRPr b="1" sz="169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41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• Require strict digital keys for access</a:t>
              </a:r>
              <a:br>
                <a:rPr b="0" lang="en-GB" sz="141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GB" sz="141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• Install Web Application Firewalls (WAF)</a:t>
              </a:r>
              <a:endParaRPr b="0" sz="1418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79" name="Google Shape;379;p49"/>
          <p:cNvSpPr/>
          <p:nvPr/>
        </p:nvSpPr>
        <p:spPr>
          <a:xfrm>
            <a:off x="381000" y="4572000"/>
            <a:ext cx="8382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49"/>
          <p:cNvSpPr txBox="1"/>
          <p:nvPr/>
        </p:nvSpPr>
        <p:spPr>
          <a:xfrm>
            <a:off x="381000" y="4667250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SECURITY PROTOCOLS &amp; DEFENSE STRATEGY</a:t>
            </a:r>
            <a:endParaRPr b="0" sz="100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0"/>
          <p:cNvSpPr/>
          <p:nvPr/>
        </p:nvSpPr>
        <p:spPr>
          <a:xfrm>
            <a:off x="0" y="0"/>
            <a:ext cx="9144000" cy="1047900"/>
          </a:xfrm>
          <a:prstGeom prst="rect">
            <a:avLst/>
          </a:prstGeom>
          <a:solidFill>
            <a:srgbClr val="1E293B">
              <a:alpha val="6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50"/>
          <p:cNvSpPr txBox="1"/>
          <p:nvPr/>
        </p:nvSpPr>
        <p:spPr>
          <a:xfrm>
            <a:off x="381000" y="0"/>
            <a:ext cx="8382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Future Outlook</a:t>
            </a:r>
            <a:endParaRPr b="1" sz="14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Need for Continuous Learning</a:t>
            </a:r>
            <a:endParaRPr b="1" sz="14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87" name="Google Shape;387;p50"/>
          <p:cNvGrpSpPr/>
          <p:nvPr/>
        </p:nvGrpSpPr>
        <p:grpSpPr>
          <a:xfrm>
            <a:off x="381000" y="1428750"/>
            <a:ext cx="8382000" cy="2905200"/>
            <a:chOff x="381000" y="1428750"/>
            <a:chExt cx="8382000" cy="2905200"/>
          </a:xfrm>
        </p:grpSpPr>
        <p:sp>
          <p:nvSpPr>
            <p:cNvPr id="388" name="Google Shape;388;p50"/>
            <p:cNvSpPr/>
            <p:nvPr/>
          </p:nvSpPr>
          <p:spPr>
            <a:xfrm>
              <a:off x="381000" y="1428750"/>
              <a:ext cx="38100" cy="8097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50"/>
            <p:cNvSpPr txBox="1"/>
            <p:nvPr/>
          </p:nvSpPr>
          <p:spPr>
            <a:xfrm>
              <a:off x="609600" y="1428750"/>
              <a:ext cx="8153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Hackers Never Stop</a:t>
              </a:r>
              <a:endParaRPr b="1" sz="2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Cybercriminals are constantly inventing new ways to attack, especially by using advanced AI.</a:t>
              </a:r>
              <a:endParaRPr b="0" sz="12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0" name="Google Shape;390;p50"/>
            <p:cNvSpPr/>
            <p:nvPr/>
          </p:nvSpPr>
          <p:spPr>
            <a:xfrm>
              <a:off x="381000" y="2476500"/>
              <a:ext cx="38100" cy="8097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50"/>
            <p:cNvSpPr txBox="1"/>
            <p:nvPr/>
          </p:nvSpPr>
          <p:spPr>
            <a:xfrm>
              <a:off x="609600" y="2476500"/>
              <a:ext cx="8153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New Tech Brings New Risks</a:t>
              </a:r>
              <a:endParaRPr b="1" sz="18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As we adopt more cloud services and smart devices, we accidentally create new targets that need new types of protection.</a:t>
              </a:r>
              <a:endParaRPr b="0" sz="12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2" name="Google Shape;392;p50"/>
            <p:cNvSpPr/>
            <p:nvPr/>
          </p:nvSpPr>
          <p:spPr>
            <a:xfrm>
              <a:off x="381000" y="3524250"/>
              <a:ext cx="38100" cy="8097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50"/>
            <p:cNvSpPr txBox="1"/>
            <p:nvPr/>
          </p:nvSpPr>
          <p:spPr>
            <a:xfrm>
              <a:off x="609600" y="3524250"/>
              <a:ext cx="8153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Security is a Journey, Not a Destination</a:t>
              </a:r>
              <a:endParaRPr b="1" sz="18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Because threats constantly evolve, IT professionals and everyday users must continuously update their skills, tools, and security habits.</a:t>
              </a:r>
              <a:endParaRPr b="0" sz="12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94" name="Google Shape;394;p50"/>
          <p:cNvSpPr/>
          <p:nvPr/>
        </p:nvSpPr>
        <p:spPr>
          <a:xfrm>
            <a:off x="381000" y="4667250"/>
            <a:ext cx="8382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50"/>
          <p:cNvSpPr txBox="1"/>
          <p:nvPr/>
        </p:nvSpPr>
        <p:spPr>
          <a:xfrm>
            <a:off x="381000" y="4743450"/>
            <a:ext cx="838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FUTURE SCOPE &amp; ADAPTATION STRATEGY</a:t>
            </a:r>
            <a:endParaRPr b="0" sz="100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1"/>
          <p:cNvSpPr/>
          <p:nvPr/>
        </p:nvSpPr>
        <p:spPr>
          <a:xfrm>
            <a:off x="0" y="0"/>
            <a:ext cx="9144000" cy="1047900"/>
          </a:xfrm>
          <a:prstGeom prst="rect">
            <a:avLst/>
          </a:prstGeom>
          <a:solidFill>
            <a:srgbClr val="1E293B">
              <a:alpha val="6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51"/>
          <p:cNvSpPr txBox="1"/>
          <p:nvPr/>
        </p:nvSpPr>
        <p:spPr>
          <a:xfrm>
            <a:off x="381000" y="0"/>
            <a:ext cx="83820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Threat Analysis</a:t>
            </a:r>
            <a:endParaRPr b="1" sz="14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Cyber Threat Distribution</a:t>
            </a:r>
            <a:endParaRPr b="1" sz="14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02" name="Google Shape;402;p51"/>
          <p:cNvGrpSpPr/>
          <p:nvPr/>
        </p:nvGrpSpPr>
        <p:grpSpPr>
          <a:xfrm>
            <a:off x="381000" y="1238250"/>
            <a:ext cx="8382000" cy="3238500"/>
            <a:chOff x="381000" y="1238250"/>
            <a:chExt cx="8382000" cy="3238500"/>
          </a:xfrm>
        </p:grpSpPr>
        <p:sp>
          <p:nvSpPr>
            <p:cNvPr id="403" name="Google Shape;403;p51"/>
            <p:cNvSpPr/>
            <p:nvPr/>
          </p:nvSpPr>
          <p:spPr>
            <a:xfrm>
              <a:off x="381000" y="1238250"/>
              <a:ext cx="8382000" cy="3238500"/>
            </a:xfrm>
            <a:prstGeom prst="roundRect">
              <a:avLst>
                <a:gd fmla="val 2352" name="adj"/>
              </a:avLst>
            </a:prstGeom>
            <a:solidFill>
              <a:srgbClr val="1E293B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04" name="Google Shape;404;p51"/>
            <p:cNvCxnSpPr/>
            <p:nvPr/>
          </p:nvCxnSpPr>
          <p:spPr>
            <a:xfrm>
              <a:off x="1143000" y="4000500"/>
              <a:ext cx="72390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5" name="Google Shape;405;p51"/>
            <p:cNvCxnSpPr/>
            <p:nvPr/>
          </p:nvCxnSpPr>
          <p:spPr>
            <a:xfrm rot="10800000">
              <a:off x="1143000" y="1619100"/>
              <a:ext cx="0" cy="23814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406" name="Google Shape;406;p51"/>
            <p:cNvGrpSpPr/>
            <p:nvPr/>
          </p:nvGrpSpPr>
          <p:grpSpPr>
            <a:xfrm>
              <a:off x="571500" y="1524000"/>
              <a:ext cx="476400" cy="2571750"/>
              <a:chOff x="571500" y="1524000"/>
              <a:chExt cx="476400" cy="2571750"/>
            </a:xfrm>
          </p:grpSpPr>
          <p:sp>
            <p:nvSpPr>
              <p:cNvPr id="407" name="Google Shape;407;p51"/>
              <p:cNvSpPr txBox="1"/>
              <p:nvPr/>
            </p:nvSpPr>
            <p:spPr>
              <a:xfrm>
                <a:off x="571500" y="1524000"/>
                <a:ext cx="476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40</a:t>
                </a:r>
                <a:endParaRPr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8" name="Google Shape;408;p51"/>
              <p:cNvSpPr txBox="1"/>
              <p:nvPr/>
            </p:nvSpPr>
            <p:spPr>
              <a:xfrm>
                <a:off x="571500" y="2119313"/>
                <a:ext cx="476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30</a:t>
                </a:r>
                <a:endParaRPr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9" name="Google Shape;409;p51"/>
              <p:cNvSpPr txBox="1"/>
              <p:nvPr/>
            </p:nvSpPr>
            <p:spPr>
              <a:xfrm>
                <a:off x="571500" y="2714625"/>
                <a:ext cx="476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20</a:t>
                </a:r>
                <a:endParaRPr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10" name="Google Shape;410;p51"/>
              <p:cNvSpPr txBox="1"/>
              <p:nvPr/>
            </p:nvSpPr>
            <p:spPr>
              <a:xfrm>
                <a:off x="571500" y="3309938"/>
                <a:ext cx="476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10</a:t>
                </a:r>
                <a:endParaRPr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11" name="Google Shape;411;p51"/>
              <p:cNvSpPr txBox="1"/>
              <p:nvPr/>
            </p:nvSpPr>
            <p:spPr>
              <a:xfrm>
                <a:off x="571500" y="3905250"/>
                <a:ext cx="476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0</a:t>
                </a:r>
                <a:endParaRPr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12" name="Google Shape;412;p51"/>
            <p:cNvGrpSpPr/>
            <p:nvPr/>
          </p:nvGrpSpPr>
          <p:grpSpPr>
            <a:xfrm>
              <a:off x="1143000" y="1614488"/>
              <a:ext cx="7200900" cy="1795538"/>
              <a:chOff x="1143000" y="1614488"/>
              <a:chExt cx="7200900" cy="1795538"/>
            </a:xfrm>
          </p:grpSpPr>
          <p:pic>
            <p:nvPicPr>
              <p:cNvPr id="413" name="Google Shape;413;p5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143000" y="1614488"/>
                <a:ext cx="72009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14" name="Google Shape;414;p5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143000" y="2209800"/>
                <a:ext cx="72009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15" name="Google Shape;415;p5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143000" y="2805113"/>
                <a:ext cx="72009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16" name="Google Shape;416;p5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143000" y="3400425"/>
                <a:ext cx="72009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17" name="Google Shape;417;p51"/>
            <p:cNvSpPr/>
            <p:nvPr/>
          </p:nvSpPr>
          <p:spPr>
            <a:xfrm>
              <a:off x="1524000" y="1619250"/>
              <a:ext cx="952500" cy="2381400"/>
            </a:xfrm>
            <a:prstGeom prst="roundRect">
              <a:avLst>
                <a:gd fmla="val 4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51"/>
            <p:cNvSpPr/>
            <p:nvPr/>
          </p:nvSpPr>
          <p:spPr>
            <a:xfrm>
              <a:off x="2952750" y="2214563"/>
              <a:ext cx="952500" cy="1785900"/>
            </a:xfrm>
            <a:prstGeom prst="roundRect">
              <a:avLst>
                <a:gd fmla="val 4000" name="adj"/>
              </a:avLst>
            </a:prstGeom>
            <a:solidFill>
              <a:srgbClr val="60A5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51"/>
            <p:cNvSpPr/>
            <p:nvPr/>
          </p:nvSpPr>
          <p:spPr>
            <a:xfrm>
              <a:off x="4381500" y="3405188"/>
              <a:ext cx="952500" cy="595200"/>
            </a:xfrm>
            <a:prstGeom prst="roundRect">
              <a:avLst>
                <a:gd fmla="val 6400" name="adj"/>
              </a:avLst>
            </a:prstGeom>
            <a:solidFill>
              <a:srgbClr val="34D3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51"/>
            <p:cNvSpPr/>
            <p:nvPr/>
          </p:nvSpPr>
          <p:spPr>
            <a:xfrm>
              <a:off x="5810250" y="3405188"/>
              <a:ext cx="952500" cy="595200"/>
            </a:xfrm>
            <a:prstGeom prst="roundRect">
              <a:avLst>
                <a:gd fmla="val 64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51"/>
            <p:cNvSpPr/>
            <p:nvPr/>
          </p:nvSpPr>
          <p:spPr>
            <a:xfrm>
              <a:off x="7239000" y="3405188"/>
              <a:ext cx="952500" cy="595200"/>
            </a:xfrm>
            <a:prstGeom prst="roundRect">
              <a:avLst>
                <a:gd fmla="val 64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2" name="Google Shape;422;p51"/>
            <p:cNvGrpSpPr/>
            <p:nvPr/>
          </p:nvGrpSpPr>
          <p:grpSpPr>
            <a:xfrm>
              <a:off x="1524000" y="1381125"/>
              <a:ext cx="6667500" cy="2024138"/>
              <a:chOff x="1524000" y="1381125"/>
              <a:chExt cx="6667500" cy="2024138"/>
            </a:xfrm>
          </p:grpSpPr>
          <p:sp>
            <p:nvSpPr>
              <p:cNvPr id="423" name="Google Shape;423;p51"/>
              <p:cNvSpPr txBox="1"/>
              <p:nvPr/>
            </p:nvSpPr>
            <p:spPr>
              <a:xfrm>
                <a:off x="1524000" y="1381125"/>
                <a:ext cx="952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2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40</a:t>
                </a:r>
                <a:endParaRPr b="1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4" name="Google Shape;424;p51"/>
              <p:cNvSpPr txBox="1"/>
              <p:nvPr/>
            </p:nvSpPr>
            <p:spPr>
              <a:xfrm>
                <a:off x="2952750" y="1976438"/>
                <a:ext cx="952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2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30</a:t>
                </a:r>
                <a:endParaRPr b="1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5" name="Google Shape;425;p51"/>
              <p:cNvSpPr txBox="1"/>
              <p:nvPr/>
            </p:nvSpPr>
            <p:spPr>
              <a:xfrm>
                <a:off x="4381500" y="3167063"/>
                <a:ext cx="952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2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10</a:t>
                </a:r>
                <a:endParaRPr b="1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6" name="Google Shape;426;p51"/>
              <p:cNvSpPr txBox="1"/>
              <p:nvPr/>
            </p:nvSpPr>
            <p:spPr>
              <a:xfrm>
                <a:off x="5810250" y="3167063"/>
                <a:ext cx="952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2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10</a:t>
                </a:r>
                <a:endParaRPr b="1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7" name="Google Shape;427;p51"/>
              <p:cNvSpPr txBox="1"/>
              <p:nvPr/>
            </p:nvSpPr>
            <p:spPr>
              <a:xfrm>
                <a:off x="7239000" y="3167063"/>
                <a:ext cx="952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2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10</a:t>
                </a:r>
                <a:endParaRPr b="1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28" name="Google Shape;428;p51"/>
            <p:cNvGrpSpPr/>
            <p:nvPr/>
          </p:nvGrpSpPr>
          <p:grpSpPr>
            <a:xfrm>
              <a:off x="1524000" y="4095750"/>
              <a:ext cx="6667500" cy="381000"/>
              <a:chOff x="1524000" y="4095750"/>
              <a:chExt cx="6667500" cy="381000"/>
            </a:xfrm>
          </p:grpSpPr>
          <p:sp>
            <p:nvSpPr>
              <p:cNvPr id="429" name="Google Shape;429;p51"/>
              <p:cNvSpPr txBox="1"/>
              <p:nvPr/>
            </p:nvSpPr>
            <p:spPr>
              <a:xfrm>
                <a:off x="1524000" y="4095750"/>
                <a:ext cx="952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00">
                    <a:solidFill>
                      <a:srgbClr val="E2E8F0"/>
                    </a:solidFill>
                    <a:latin typeface="Inter"/>
                    <a:ea typeface="Inter"/>
                    <a:cs typeface="Inter"/>
                    <a:sym typeface="Inter"/>
                  </a:rPr>
                  <a:t>AI Phishing</a:t>
                </a:r>
                <a:endParaRPr sz="10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0" name="Google Shape;430;p51"/>
              <p:cNvSpPr txBox="1"/>
              <p:nvPr/>
            </p:nvSpPr>
            <p:spPr>
              <a:xfrm>
                <a:off x="2952750" y="4095750"/>
                <a:ext cx="952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00">
                    <a:solidFill>
                      <a:srgbClr val="E2E8F0"/>
                    </a:solidFill>
                    <a:latin typeface="Inter"/>
                    <a:ea typeface="Inter"/>
                    <a:cs typeface="Inter"/>
                    <a:sym typeface="Inter"/>
                  </a:rPr>
                  <a:t>Ransomware</a:t>
                </a:r>
                <a:endParaRPr sz="10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1" name="Google Shape;431;p51"/>
              <p:cNvSpPr txBox="1"/>
              <p:nvPr/>
            </p:nvSpPr>
            <p:spPr>
              <a:xfrm>
                <a:off x="4381500" y="4095750"/>
                <a:ext cx="952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00">
                    <a:solidFill>
                      <a:srgbClr val="E2E8F0"/>
                    </a:solidFill>
                    <a:latin typeface="Inter"/>
                    <a:ea typeface="Inter"/>
                    <a:cs typeface="Inter"/>
                    <a:sym typeface="Inter"/>
                  </a:rPr>
                  <a:t>Password Snatchers</a:t>
                </a:r>
                <a:endParaRPr sz="10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2" name="Google Shape;432;p51"/>
              <p:cNvSpPr txBox="1"/>
              <p:nvPr/>
            </p:nvSpPr>
            <p:spPr>
              <a:xfrm>
                <a:off x="5810250" y="4095750"/>
                <a:ext cx="952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00">
                    <a:solidFill>
                      <a:srgbClr val="E2E8F0"/>
                    </a:solidFill>
                    <a:latin typeface="Inter"/>
                    <a:ea typeface="Inter"/>
                    <a:cs typeface="Inter"/>
                    <a:sym typeface="Inter"/>
                  </a:rPr>
                  <a:t>Invisible Attacks</a:t>
                </a:r>
                <a:endParaRPr sz="10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3" name="Google Shape;433;p51"/>
              <p:cNvSpPr txBox="1"/>
              <p:nvPr/>
            </p:nvSpPr>
            <p:spPr>
              <a:xfrm>
                <a:off x="7239000" y="4095750"/>
                <a:ext cx="952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00">
                    <a:solidFill>
                      <a:srgbClr val="E2E8F0"/>
                    </a:solidFill>
                    <a:latin typeface="Inter"/>
                    <a:ea typeface="Inter"/>
                    <a:cs typeface="Inter"/>
                    <a:sym typeface="Inter"/>
                  </a:rPr>
                  <a:t>Leaky APIs</a:t>
                </a:r>
                <a:endParaRPr sz="10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434" name="Google Shape;434;p51"/>
          <p:cNvSpPr/>
          <p:nvPr/>
        </p:nvSpPr>
        <p:spPr>
          <a:xfrm>
            <a:off x="381000" y="4667250"/>
            <a:ext cx="8382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51"/>
          <p:cNvSpPr txBox="1"/>
          <p:nvPr/>
        </p:nvSpPr>
        <p:spPr>
          <a:xfrm>
            <a:off x="381000" y="4743450"/>
            <a:ext cx="838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QUANTITATIVE ANALYSIS: THREAT IMPACT BY CATEGORY</a:t>
            </a:r>
            <a:endParaRPr b="0" sz="100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2"/>
          <p:cNvSpPr/>
          <p:nvPr/>
        </p:nvSpPr>
        <p:spPr>
          <a:xfrm>
            <a:off x="0" y="0"/>
            <a:ext cx="9144000" cy="1047900"/>
          </a:xfrm>
          <a:prstGeom prst="rect">
            <a:avLst/>
          </a:prstGeom>
          <a:solidFill>
            <a:srgbClr val="1E293B">
              <a:alpha val="6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52"/>
          <p:cNvSpPr txBox="1"/>
          <p:nvPr/>
        </p:nvSpPr>
        <p:spPr>
          <a:xfrm>
            <a:off x="381000" y="0"/>
            <a:ext cx="8382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Summary</a:t>
            </a:r>
            <a:endParaRPr b="1" sz="14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Conclusion</a:t>
            </a:r>
            <a:endParaRPr b="1" sz="14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42" name="Google Shape;442;p52"/>
          <p:cNvGrpSpPr/>
          <p:nvPr/>
        </p:nvGrpSpPr>
        <p:grpSpPr>
          <a:xfrm>
            <a:off x="381000" y="1428750"/>
            <a:ext cx="8382000" cy="2905200"/>
            <a:chOff x="381000" y="1428750"/>
            <a:chExt cx="8382000" cy="2905200"/>
          </a:xfrm>
        </p:grpSpPr>
        <p:sp>
          <p:nvSpPr>
            <p:cNvPr id="443" name="Google Shape;443;p52"/>
            <p:cNvSpPr/>
            <p:nvPr/>
          </p:nvSpPr>
          <p:spPr>
            <a:xfrm>
              <a:off x="381000" y="1428750"/>
              <a:ext cx="38100" cy="8097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444" name="Google Shape;444;p52"/>
            <p:cNvSpPr txBox="1"/>
            <p:nvPr/>
          </p:nvSpPr>
          <p:spPr>
            <a:xfrm>
              <a:off x="609600" y="1428750"/>
              <a:ext cx="8153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Stop Attacks Early</a:t>
              </a:r>
              <a:endParaRPr b="1" sz="2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Finding and fixing weak spots </a:t>
              </a:r>
              <a:r>
                <a:rPr b="0" i="1" lang="en-GB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before</a:t>
              </a:r>
              <a:r>
                <a:rPr b="0" lang="en-GB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 hackers find them prevents the attack entirely.</a:t>
              </a:r>
              <a:endParaRPr b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45" name="Google Shape;445;p52"/>
            <p:cNvSpPr/>
            <p:nvPr/>
          </p:nvSpPr>
          <p:spPr>
            <a:xfrm>
              <a:off x="381000" y="2476500"/>
              <a:ext cx="38100" cy="8097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446" name="Google Shape;446;p52"/>
            <p:cNvSpPr txBox="1"/>
            <p:nvPr/>
          </p:nvSpPr>
          <p:spPr>
            <a:xfrm>
              <a:off x="609600" y="2476500"/>
              <a:ext cx="8153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Saves Money</a:t>
              </a:r>
              <a:endParaRPr b="1" sz="2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Investing in strong security now is far cheaper than paying massive ransoms, legal fines, and recovery costs later.</a:t>
              </a:r>
              <a:endParaRPr b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47" name="Google Shape;447;p52"/>
            <p:cNvSpPr/>
            <p:nvPr/>
          </p:nvSpPr>
          <p:spPr>
            <a:xfrm>
              <a:off x="381000" y="3524250"/>
              <a:ext cx="38100" cy="8097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448" name="Google Shape;448;p52"/>
            <p:cNvSpPr txBox="1"/>
            <p:nvPr/>
          </p:nvSpPr>
          <p:spPr>
            <a:xfrm>
              <a:off x="609600" y="3524250"/>
              <a:ext cx="8153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Protects Trust</a:t>
              </a:r>
              <a:endParaRPr b="1" sz="2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Consistently keeping data safe is the only way to maintain the trust of customers and business partners.</a:t>
              </a:r>
              <a:endParaRPr b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49" name="Google Shape;449;p52"/>
          <p:cNvSpPr/>
          <p:nvPr/>
        </p:nvSpPr>
        <p:spPr>
          <a:xfrm>
            <a:off x="381000" y="4667250"/>
            <a:ext cx="8382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52"/>
          <p:cNvSpPr txBox="1"/>
          <p:nvPr/>
        </p:nvSpPr>
        <p:spPr>
          <a:xfrm>
            <a:off x="381000" y="4743450"/>
            <a:ext cx="838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KEY TAKEAWAYS &amp; FINAL VERDICT</a:t>
            </a:r>
            <a:endParaRPr b="0" sz="100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